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7" r:id="rId2"/>
    <p:sldId id="258" r:id="rId3"/>
    <p:sldId id="259" r:id="rId4"/>
    <p:sldId id="2147481357"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7" autoAdjust="0"/>
    <p:restoredTop sz="94660"/>
  </p:normalViewPr>
  <p:slideViewPr>
    <p:cSldViewPr snapToGrid="0">
      <p:cViewPr varScale="1">
        <p:scale>
          <a:sx n="76" d="100"/>
          <a:sy n="76" d="100"/>
        </p:scale>
        <p:origin x="1632" y="7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1FC12F-6A28-41AA-B5B2-67AA6D916EB8}"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6F3679-BFC1-417D-BCD8-ECB6B9E7F2B5}" type="slidenum">
              <a:rPr lang="en-US" smtClean="0"/>
              <a:t>‹#›</a:t>
            </a:fld>
            <a:endParaRPr lang="en-US"/>
          </a:p>
        </p:txBody>
      </p:sp>
    </p:spTree>
    <p:extLst>
      <p:ext uri="{BB962C8B-B14F-4D97-AF65-F5344CB8AC3E}">
        <p14:creationId xmlns:p14="http://schemas.microsoft.com/office/powerpoint/2010/main" val="96215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Image source: Microsoft 365 content library
Modern .NET applications often consist of microservices, APIs, and background workers, resulting in intricate architectures. Cloud-native expectations add layers like resilience, observability, and scalability. Developers are increasingly expected to manage operational tasks alongside coding, amplifying complexity and highlighting the need for effective tools and clear strategies.</a:t>
            </a:r>
          </a:p>
        </p:txBody>
      </p:sp>
      <p:sp>
        <p:nvSpPr>
          <p:cNvPr id="4" name="Slide Number Placeholder 3"/>
          <p:cNvSpPr>
            <a:spLocks noGrp="1"/>
          </p:cNvSpPr>
          <p:nvPr>
            <p:ph type="sldNum" sz="quarter" idx="5"/>
          </p:nvPr>
        </p:nvSpPr>
        <p:spPr/>
        <p:txBody>
          <a:bodyPr/>
          <a:lstStyle/>
          <a:p>
            <a:fld id="{B36F3679-BFC1-417D-BCD8-ECB6B9E7F2B5}" type="slidenum">
              <a:rPr lang="en-US" smtClean="0"/>
              <a:t>2</a:t>
            </a:fld>
            <a:endParaRPr lang="en-US"/>
          </a:p>
        </p:txBody>
      </p:sp>
    </p:spTree>
    <p:extLst>
      <p:ext uri="{BB962C8B-B14F-4D97-AF65-F5344CB8AC3E}">
        <p14:creationId xmlns:p14="http://schemas.microsoft.com/office/powerpoint/2010/main" val="8241272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Image source: Microsoft 365 content library
.NET Aspire is an opinionated stack designed for building distributed .NET applications. It provides built-in orchestration, diagnostics, and service discovery to simplify complex app development. With a developer-first, production-aware approach, .NET Aspire enhances productivity and reliability for modern .NET projects. (Visual: Aspire logo with tagline)</a:t>
            </a:r>
          </a:p>
        </p:txBody>
      </p:sp>
      <p:sp>
        <p:nvSpPr>
          <p:cNvPr id="4" name="Slide Number Placeholder 3"/>
          <p:cNvSpPr>
            <a:spLocks noGrp="1"/>
          </p:cNvSpPr>
          <p:nvPr>
            <p:ph type="sldNum" sz="quarter" idx="5"/>
          </p:nvPr>
        </p:nvSpPr>
        <p:spPr/>
        <p:txBody>
          <a:bodyPr/>
          <a:lstStyle/>
          <a:p>
            <a:fld id="{B36F3679-BFC1-417D-BCD8-ECB6B9E7F2B5}" type="slidenum">
              <a:rPr lang="en-US" smtClean="0"/>
              <a:t>3</a:t>
            </a:fld>
            <a:endParaRPr lang="en-US"/>
          </a:p>
        </p:txBody>
      </p:sp>
    </p:spTree>
    <p:extLst>
      <p:ext uri="{BB962C8B-B14F-4D97-AF65-F5344CB8AC3E}">
        <p14:creationId xmlns:p14="http://schemas.microsoft.com/office/powerpoint/2010/main" val="1644556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spcBef>
                <a:spcPts val="0"/>
              </a:spcBef>
              <a:spcAft>
                <a:spcPts val="0"/>
              </a:spcAft>
            </a:pPr>
            <a:r>
              <a:rPr lang="en-US" dirty="0"/>
              <a:t>So what's in .NET Aspire? There's a series of different features that help developers be more productive, build better observable production ready distributed applications, and ease the deployment in many scenarios for us. We're going to take a look at every single one of these different features from start to finish and integrate them into our application. Now a lot of people start with the developer dashboard because it's the fancy shiny thing that ships directly with .NET Aspire but we're going to start in a different area first which I think is one of the areas and features that every single application should integrate into our application today</a:t>
            </a:r>
          </a:p>
        </p:txBody>
      </p:sp>
      <p:sp>
        <p:nvSpPr>
          <p:cNvPr id="4" name="Slide Number Placeholder 3"/>
          <p:cNvSpPr>
            <a:spLocks noGrp="1"/>
          </p:cNvSpPr>
          <p:nvPr>
            <p:ph type="sldNum" sz="quarter" idx="5"/>
          </p:nvPr>
        </p:nvSpPr>
        <p:spPr/>
        <p:txBody>
          <a:bodyPr/>
          <a:lstStyle/>
          <a:p>
            <a:pPr marL="0" marR="0" lvl="0" indent="0" algn="r" defTabSz="949147" rtl="0" eaLnBrk="1" fontAlgn="auto" latinLnBrk="0" hangingPunct="1">
              <a:lnSpc>
                <a:spcPct val="100000"/>
              </a:lnSpc>
              <a:spcBef>
                <a:spcPts val="0"/>
              </a:spcBef>
              <a:spcAft>
                <a:spcPts val="0"/>
              </a:spcAft>
              <a:buClrTx/>
              <a:buSzTx/>
              <a:buFontTx/>
              <a:buNone/>
              <a:tabLst/>
              <a:defRPr/>
            </a:pPr>
            <a:fld id="{D96FA0A3-07FB-4AAC-A99C-E63CB0E4F33F}"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49147"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417267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D7C5A-4710-218D-75BB-E0C2AAD563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4E67A4-2378-2069-A7BE-C307BCBA9C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DB86B4-FA2B-6712-A9A2-B922DA1CEDEB}"/>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5" name="Footer Placeholder 4">
            <a:extLst>
              <a:ext uri="{FF2B5EF4-FFF2-40B4-BE49-F238E27FC236}">
                <a16:creationId xmlns:a16="http://schemas.microsoft.com/office/drawing/2014/main" id="{42B9E1A3-9873-4556-C753-CF609F24D2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868A6C-0CB7-D7AB-BB5A-3BD94DB103F9}"/>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15295446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9F220-C6C9-72E7-BFA2-E13E4BFEF1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BE3E035-3620-A305-E81C-A84796EE5C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E03E2-4ABD-97D1-ECFA-98D90F54B050}"/>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5" name="Footer Placeholder 4">
            <a:extLst>
              <a:ext uri="{FF2B5EF4-FFF2-40B4-BE49-F238E27FC236}">
                <a16:creationId xmlns:a16="http://schemas.microsoft.com/office/drawing/2014/main" id="{28738177-F863-6905-B8ED-706236799D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C87221-4A31-5FA8-FDCD-5CD213653B7D}"/>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42376190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09DB6-CE7E-FB9C-9F45-87B81B797B2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CFB31CE-F3A1-6DE8-0773-4E48BC0ECD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F72815-5676-12D6-070C-DFCFE2BA2866}"/>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5" name="Footer Placeholder 4">
            <a:extLst>
              <a:ext uri="{FF2B5EF4-FFF2-40B4-BE49-F238E27FC236}">
                <a16:creationId xmlns:a16="http://schemas.microsoft.com/office/drawing/2014/main" id="{84499DB9-384F-5F65-EA56-60AFCA0E90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DC1508-0A3F-F553-7A3B-5F7966D1F426}"/>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2003509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C945F-9DC3-8415-8F5E-016D62B1CC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E8E2B8-D65C-FADB-F9A7-EE033121B28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A2068E4-8757-DA08-23A4-C557F95704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B77A6BE-2B02-36DB-4680-485F8FA04273}"/>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6" name="Footer Placeholder 5">
            <a:extLst>
              <a:ext uri="{FF2B5EF4-FFF2-40B4-BE49-F238E27FC236}">
                <a16:creationId xmlns:a16="http://schemas.microsoft.com/office/drawing/2014/main" id="{347080F3-C203-4F63-3167-D062341A57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D800AA-D661-E974-9540-FBB222859C63}"/>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19464208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B0AF2-46CE-EF84-76C1-F1386619C3D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7C1CC1-ED89-D40B-8F3D-D5EA75F4A4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A7B03A-6B32-0FA4-AFC6-8BA022CD3F4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350C56-6351-9984-8643-025D0C4030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11B6AE-A9BD-158E-A83B-645233006FE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F7BCE8-6D79-E96E-FBF2-1513E264DC72}"/>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8" name="Footer Placeholder 7">
            <a:extLst>
              <a:ext uri="{FF2B5EF4-FFF2-40B4-BE49-F238E27FC236}">
                <a16:creationId xmlns:a16="http://schemas.microsoft.com/office/drawing/2014/main" id="{7C8B6AD5-E7C9-F152-F682-BF3EE9A6C9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D85C6F-9ED4-12A0-3ECC-5466C3BD177D}"/>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526998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49D9A-5422-8123-D4D9-F05F5D8857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FD9352-D03F-593D-0D78-2058806D03E1}"/>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4" name="Footer Placeholder 3">
            <a:extLst>
              <a:ext uri="{FF2B5EF4-FFF2-40B4-BE49-F238E27FC236}">
                <a16:creationId xmlns:a16="http://schemas.microsoft.com/office/drawing/2014/main" id="{FA07159D-8026-4899-BE96-306DED0B2DC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D48FAF-CD44-3519-311E-52E3FA92B932}"/>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2960410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C4B393-1914-9EC3-0922-429DA93ABA7B}"/>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3" name="Footer Placeholder 2">
            <a:extLst>
              <a:ext uri="{FF2B5EF4-FFF2-40B4-BE49-F238E27FC236}">
                <a16:creationId xmlns:a16="http://schemas.microsoft.com/office/drawing/2014/main" id="{0E80CF40-30AE-DBE3-2D22-AA938BD2B5A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8E1207-367F-85BC-E3BC-30598C838BD8}"/>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24720671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38709-17D2-E7A9-733E-E1BB2185A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62A8CE9-EC43-92BB-E41C-A2EBD6D3E6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C2EDD6D-4173-8D3E-01B6-B653FC96B3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379238-3E35-92D0-0ADC-58AAE41F68F6}"/>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6" name="Footer Placeholder 5">
            <a:extLst>
              <a:ext uri="{FF2B5EF4-FFF2-40B4-BE49-F238E27FC236}">
                <a16:creationId xmlns:a16="http://schemas.microsoft.com/office/drawing/2014/main" id="{819C9E9C-4ABD-1689-7B0E-23B5122F14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5BB751-CD1A-0D7F-FE60-92AADECE0591}"/>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506900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83A08-4F3A-0770-802D-732E5D0973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FF56E6D-3D27-994C-3500-5F8EF2D3A2A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F3900C-CFD7-E11F-88F8-DBCA7722F1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8F3943-61EB-BD7A-306E-B6DC0231422E}"/>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6" name="Footer Placeholder 5">
            <a:extLst>
              <a:ext uri="{FF2B5EF4-FFF2-40B4-BE49-F238E27FC236}">
                <a16:creationId xmlns:a16="http://schemas.microsoft.com/office/drawing/2014/main" id="{FE459A33-489D-7A65-B8D2-3D4A2790AD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31DD91-F618-1510-492D-A73CE9CA68FF}"/>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7657206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F32DB-E12D-A064-9A5E-E2D6B6BED5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A7902B-36DA-8AED-CF18-C460CA690E7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A544F2-2234-095C-5507-2FC26EA1903C}"/>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5" name="Footer Placeholder 4">
            <a:extLst>
              <a:ext uri="{FF2B5EF4-FFF2-40B4-BE49-F238E27FC236}">
                <a16:creationId xmlns:a16="http://schemas.microsoft.com/office/drawing/2014/main" id="{89515B3F-6D45-93EC-369F-D0C5E93D56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113EF5-C7A4-B81C-5789-58DA6022DCB0}"/>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14081137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25E182-4416-8A54-D2A9-848E15AEC0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3784B8-811C-AFDD-358F-C6109ED74D5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AE4877-21EB-D7B5-D983-BC22582A6ACF}"/>
              </a:ext>
            </a:extLst>
          </p:cNvPr>
          <p:cNvSpPr>
            <a:spLocks noGrp="1"/>
          </p:cNvSpPr>
          <p:nvPr>
            <p:ph type="dt" sz="half" idx="10"/>
          </p:nvPr>
        </p:nvSpPr>
        <p:spPr/>
        <p:txBody>
          <a:bodyPr/>
          <a:lstStyle/>
          <a:p>
            <a:fld id="{9959450D-C0A9-414C-934D-23FCB958D1B6}" type="datetimeFigureOut">
              <a:rPr lang="en-US" smtClean="0"/>
              <a:t>11/19/2025</a:t>
            </a:fld>
            <a:endParaRPr lang="en-US"/>
          </a:p>
        </p:txBody>
      </p:sp>
      <p:sp>
        <p:nvSpPr>
          <p:cNvPr id="5" name="Footer Placeholder 4">
            <a:extLst>
              <a:ext uri="{FF2B5EF4-FFF2-40B4-BE49-F238E27FC236}">
                <a16:creationId xmlns:a16="http://schemas.microsoft.com/office/drawing/2014/main" id="{1B88CCD7-77D1-2A34-4691-C76B4840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11D7E2-8023-7B86-B000-D1EF12C10697}"/>
              </a:ext>
            </a:extLst>
          </p:cNvPr>
          <p:cNvSpPr>
            <a:spLocks noGrp="1"/>
          </p:cNvSpPr>
          <p:nvPr>
            <p:ph type="sldNum" sz="quarter" idx="12"/>
          </p:nvPr>
        </p:nvSpPr>
        <p:spPr/>
        <p:txBody>
          <a:bodyPr/>
          <a:lstStyle/>
          <a:p>
            <a:fld id="{D30B2B0D-1AA7-4541-BC76-17D642878D23}" type="slidenum">
              <a:rPr lang="en-US" smtClean="0"/>
              <a:t>‹#›</a:t>
            </a:fld>
            <a:endParaRPr lang="en-US"/>
          </a:p>
        </p:txBody>
      </p:sp>
    </p:spTree>
    <p:extLst>
      <p:ext uri="{BB962C8B-B14F-4D97-AF65-F5344CB8AC3E}">
        <p14:creationId xmlns:p14="http://schemas.microsoft.com/office/powerpoint/2010/main" val="2402910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AEA877-F5D6-AA18-3A9C-A3F4D9906A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0500348-92E4-DCFB-567C-041112A27F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35A21F-1274-67AF-83B2-45C74BE877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959450D-C0A9-414C-934D-23FCB958D1B6}" type="datetimeFigureOut">
              <a:rPr lang="en-US" smtClean="0"/>
              <a:t>11/19/2025</a:t>
            </a:fld>
            <a:endParaRPr lang="en-US"/>
          </a:p>
        </p:txBody>
      </p:sp>
      <p:sp>
        <p:nvSpPr>
          <p:cNvPr id="5" name="Footer Placeholder 4">
            <a:extLst>
              <a:ext uri="{FF2B5EF4-FFF2-40B4-BE49-F238E27FC236}">
                <a16:creationId xmlns:a16="http://schemas.microsoft.com/office/drawing/2014/main" id="{445097BF-4924-D648-47B0-A0C4CAC2FC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69B0C8C-9855-AE1A-6677-284DF14687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30B2B0D-1AA7-4541-BC76-17D642878D23}" type="slidenum">
              <a:rPr lang="en-US" smtClean="0"/>
              <a:t>‹#›</a:t>
            </a:fld>
            <a:endParaRPr lang="en-US"/>
          </a:p>
        </p:txBody>
      </p:sp>
    </p:spTree>
    <p:extLst>
      <p:ext uri="{BB962C8B-B14F-4D97-AF65-F5344CB8AC3E}">
        <p14:creationId xmlns:p14="http://schemas.microsoft.com/office/powerpoint/2010/main" val="29637234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erial view of a city skyline">
            <a:extLst>
              <a:ext uri="{FF2B5EF4-FFF2-40B4-BE49-F238E27FC236}">
                <a16:creationId xmlns:a16="http://schemas.microsoft.com/office/drawing/2014/main" id="{ADD46FF3-9BCE-0DB3-C563-738D1D87237F}"/>
              </a:ext>
            </a:extLst>
          </p:cNvPr>
          <p:cNvPicPr>
            <a:picLocks noChangeAspect="1"/>
          </p:cNvPicPr>
          <p:nvPr/>
        </p:nvPicPr>
        <p:blipFill>
          <a:blip r:embed="rId2">
            <a:alphaModFix amt="50000"/>
          </a:blip>
          <a:srcRect t="15730"/>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F6816993-C477-C1C7-9F69-04DC532AC114}"/>
              </a:ext>
            </a:extLst>
          </p:cNvPr>
          <p:cNvSpPr>
            <a:spLocks noGrp="1"/>
          </p:cNvSpPr>
          <p:nvPr>
            <p:ph type="ctrTitle"/>
          </p:nvPr>
        </p:nvSpPr>
        <p:spPr>
          <a:xfrm>
            <a:off x="1524000" y="1122362"/>
            <a:ext cx="9144000" cy="2900518"/>
          </a:xfrm>
        </p:spPr>
        <p:txBody>
          <a:bodyPr>
            <a:normAutofit/>
          </a:bodyPr>
          <a:lstStyle/>
          <a:p>
            <a:r>
              <a:rPr lang="en-US" b="1" dirty="0">
                <a:solidFill>
                  <a:srgbClr val="FFFFFF"/>
                </a:solidFill>
                <a:latin typeface="Arial Rounded MT Bold" panose="020F0704030504030204" pitchFamily="34" charset="0"/>
              </a:rPr>
              <a:t>Building Confident Application Systems with Aspire</a:t>
            </a:r>
            <a:endParaRPr lang="en-US" dirty="0">
              <a:solidFill>
                <a:srgbClr val="FFFFFF"/>
              </a:solidFill>
              <a:latin typeface="Arial Rounded MT Bold" panose="020F0704030504030204" pitchFamily="34" charset="0"/>
            </a:endParaRPr>
          </a:p>
        </p:txBody>
      </p:sp>
      <p:sp>
        <p:nvSpPr>
          <p:cNvPr id="3" name="Subtitle 2">
            <a:extLst>
              <a:ext uri="{FF2B5EF4-FFF2-40B4-BE49-F238E27FC236}">
                <a16:creationId xmlns:a16="http://schemas.microsoft.com/office/drawing/2014/main" id="{6302CBF4-68C4-1139-1CF1-0277DF5E815D}"/>
              </a:ext>
            </a:extLst>
          </p:cNvPr>
          <p:cNvSpPr>
            <a:spLocks noGrp="1"/>
          </p:cNvSpPr>
          <p:nvPr>
            <p:ph type="subTitle" idx="1"/>
          </p:nvPr>
        </p:nvSpPr>
        <p:spPr>
          <a:xfrm>
            <a:off x="1524000" y="4159404"/>
            <a:ext cx="9144000" cy="1098395"/>
          </a:xfrm>
        </p:spPr>
        <p:txBody>
          <a:bodyPr>
            <a:normAutofit/>
          </a:bodyPr>
          <a:lstStyle/>
          <a:p>
            <a:r>
              <a:rPr lang="en-US" b="1">
                <a:solidFill>
                  <a:srgbClr val="FFFFFF"/>
                </a:solidFill>
              </a:rPr>
              <a:t>From Dev to Deployment</a:t>
            </a:r>
            <a:endParaRPr lang="en-US">
              <a:solidFill>
                <a:srgbClr val="FFFFFF"/>
              </a:solidFill>
            </a:endParaRPr>
          </a:p>
        </p:txBody>
      </p:sp>
      <p:sp>
        <p:nvSpPr>
          <p:cNvPr id="4" name="TextBox 3">
            <a:extLst>
              <a:ext uri="{FF2B5EF4-FFF2-40B4-BE49-F238E27FC236}">
                <a16:creationId xmlns:a16="http://schemas.microsoft.com/office/drawing/2014/main" id="{E59EFBE9-719D-9EFF-C6E8-C15A750FF88B}"/>
              </a:ext>
            </a:extLst>
          </p:cNvPr>
          <p:cNvSpPr txBox="1"/>
          <p:nvPr/>
        </p:nvSpPr>
        <p:spPr>
          <a:xfrm>
            <a:off x="667871" y="5735638"/>
            <a:ext cx="10856258" cy="461665"/>
          </a:xfrm>
          <a:prstGeom prst="rect">
            <a:avLst/>
          </a:prstGeom>
          <a:noFill/>
        </p:spPr>
        <p:txBody>
          <a:bodyPr wrap="square" rtlCol="0">
            <a:spAutoFit/>
          </a:bodyPr>
          <a:lstStyle/>
          <a:p>
            <a:r>
              <a:rPr lang="en-US" sz="2400" dirty="0"/>
              <a:t>Jeffrey T. Fritz | @csharpfritz | twitch.tv/</a:t>
            </a:r>
            <a:r>
              <a:rPr lang="en-US" sz="2400" dirty="0" err="1"/>
              <a:t>csharpfritz</a:t>
            </a:r>
            <a:r>
              <a:rPr lang="en-US" sz="2400" dirty="0"/>
              <a:t> | youtube.com/</a:t>
            </a:r>
            <a:r>
              <a:rPr lang="en-US" sz="2400" dirty="0" err="1"/>
              <a:t>csharpfritz</a:t>
            </a:r>
            <a:endParaRPr lang="en-US" sz="2400" dirty="0"/>
          </a:p>
        </p:txBody>
      </p:sp>
    </p:spTree>
    <p:extLst>
      <p:ext uri="{BB962C8B-B14F-4D97-AF65-F5344CB8AC3E}">
        <p14:creationId xmlns:p14="http://schemas.microsoft.com/office/powerpoint/2010/main" val="3185041561"/>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par>
                          <p:cTn id="11" fill="hold">
                            <p:stCondLst>
                              <p:cond delay="2200"/>
                            </p:stCondLst>
                            <p:childTnLst>
                              <p:par>
                                <p:cTn id="12" presetID="10" presetClass="entr" presetSubtype="0" fill="hold" grpId="0" nodeType="after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AC6BAE-68F1-9CDC-F292-83EC8997DC4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a:solidFill>
                  <a:schemeClr val="tx1"/>
                </a:solidFill>
                <a:latin typeface="+mj-lt"/>
                <a:ea typeface="+mj-ea"/>
                <a:cs typeface="+mj-cs"/>
              </a:rPr>
              <a:t>Modern .NET Apps: Complex Realities</a:t>
            </a:r>
            <a:endParaRPr lang="en-US" sz="3600" b="1" kern="1200" dirty="0">
              <a:solidFill>
                <a:schemeClr val="tx1"/>
              </a:solidFill>
              <a:latin typeface="+mj-lt"/>
              <a:ea typeface="+mj-ea"/>
              <a:cs typeface="+mj-cs"/>
            </a:endParaRPr>
          </a:p>
        </p:txBody>
      </p:sp>
      <p:pic>
        <p:nvPicPr>
          <p:cNvPr id="5" name="Content Placeholder 4" descr="Cloud computing concept isolated on white background">
            <a:extLst>
              <a:ext uri="{FF2B5EF4-FFF2-40B4-BE49-F238E27FC236}">
                <a16:creationId xmlns:a16="http://schemas.microsoft.com/office/drawing/2014/main" id="{F58801D9-6D92-4EC8-8847-81837D218CB9}"/>
              </a:ext>
            </a:extLst>
          </p:cNvPr>
          <p:cNvPicPr>
            <a:picLocks noGrp="1" noChangeAspect="1"/>
          </p:cNvPicPr>
          <p:nvPr>
            <p:ph sz="half" idx="1"/>
          </p:nvPr>
        </p:nvPicPr>
        <p:blipFill>
          <a:blip r:embed="rId3"/>
          <a:srcRect l="22115" r="24186"/>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EF73BD04-0323-3BA8-60F2-78ED1B2CBDD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Font typeface="Arial" panose="020B0604020202020204" pitchFamily="34" charset="0"/>
              <a:buNone/>
            </a:pPr>
            <a:r>
              <a:rPr lang="en-US" sz="1800" b="1" dirty="0"/>
              <a:t>Intricate App Architectures</a:t>
            </a:r>
          </a:p>
          <a:p>
            <a:pPr marL="0" lvl="1" indent="0">
              <a:buFont typeface="Arial" panose="020B0604020202020204" pitchFamily="34" charset="0"/>
              <a:buNone/>
            </a:pPr>
            <a:r>
              <a:rPr lang="en-US" sz="1800" dirty="0"/>
              <a:t>Modern .NET apps use microservices, APIs, and background workers, creating complex and interconnected structures.</a:t>
            </a:r>
          </a:p>
          <a:p>
            <a:pPr marL="0" indent="0">
              <a:spcBef>
                <a:spcPts val="2500"/>
              </a:spcBef>
              <a:buFont typeface="Arial" panose="020B0604020202020204" pitchFamily="34" charset="0"/>
              <a:buNone/>
            </a:pPr>
            <a:r>
              <a:rPr lang="en-US" sz="1800" b="1" dirty="0"/>
              <a:t>Cloud-Native Demands</a:t>
            </a:r>
          </a:p>
          <a:p>
            <a:pPr marL="0" lvl="1" indent="0">
              <a:buFont typeface="Arial" panose="020B0604020202020204" pitchFamily="34" charset="0"/>
              <a:buNone/>
            </a:pPr>
            <a:r>
              <a:rPr lang="en-US" sz="1800" dirty="0"/>
              <a:t>Cloud-native apps require resilience, observability, and scalability, adding more layers to application complexity.</a:t>
            </a:r>
          </a:p>
          <a:p>
            <a:pPr marL="0" indent="0">
              <a:spcBef>
                <a:spcPts val="2500"/>
              </a:spcBef>
              <a:buFont typeface="Arial" panose="020B0604020202020204" pitchFamily="34" charset="0"/>
              <a:buNone/>
            </a:pPr>
            <a:r>
              <a:rPr lang="en-US" sz="1800" b="1" dirty="0"/>
              <a:t>Developer Operational Challenges</a:t>
            </a:r>
          </a:p>
          <a:p>
            <a:pPr marL="0" lvl="1" indent="0">
              <a:buFont typeface="Arial" panose="020B0604020202020204" pitchFamily="34" charset="0"/>
              <a:buNone/>
            </a:pPr>
            <a:r>
              <a:rPr lang="en-US" sz="1800" dirty="0"/>
              <a:t>Developers now handle operational tasks alongside coding, driving the need for effective tools and clear strategies.</a:t>
            </a:r>
          </a:p>
        </p:txBody>
      </p:sp>
    </p:spTree>
    <p:extLst>
      <p:ext uri="{BB962C8B-B14F-4D97-AF65-F5344CB8AC3E}">
        <p14:creationId xmlns:p14="http://schemas.microsoft.com/office/powerpoint/2010/main" val="412387191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04C21BAE-6866-4C7A-A7EC-C1B2E572D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Internet Network of Connected Devices and Apps.">
            <a:extLst>
              <a:ext uri="{FF2B5EF4-FFF2-40B4-BE49-F238E27FC236}">
                <a16:creationId xmlns:a16="http://schemas.microsoft.com/office/drawing/2014/main" id="{EE8CB5DA-DF18-4826-BDBA-44561BBF84DD}"/>
              </a:ext>
            </a:extLst>
          </p:cNvPr>
          <p:cNvPicPr>
            <a:picLocks noGrp="1" noChangeAspect="1"/>
          </p:cNvPicPr>
          <p:nvPr>
            <p:ph sz="half" idx="1"/>
          </p:nvPr>
        </p:nvPicPr>
        <p:blipFill>
          <a:blip r:embed="rId3"/>
          <a:srcRect t="8470" b="7260"/>
          <a:stretch>
            <a:fillRect/>
          </a:stretch>
        </p:blipFill>
        <p:spPr>
          <a:xfrm>
            <a:off x="1" y="1"/>
            <a:ext cx="12192000" cy="6857999"/>
          </a:xfrm>
          <a:prstGeom prst="rect">
            <a:avLst/>
          </a:prstGeom>
        </p:spPr>
      </p:pic>
      <p:sp>
        <p:nvSpPr>
          <p:cNvPr id="17" name="Freeform: Shape 16">
            <a:extLst>
              <a:ext uri="{FF2B5EF4-FFF2-40B4-BE49-F238E27FC236}">
                <a16:creationId xmlns:a16="http://schemas.microsoft.com/office/drawing/2014/main" id="{C74F2646-08C7-4051-81DA-751C43A03F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099" y="585274"/>
            <a:ext cx="7036051" cy="5492212"/>
          </a:xfrm>
          <a:custGeom>
            <a:avLst/>
            <a:gdLst>
              <a:gd name="connsiteX0" fmla="*/ 0 w 7036051"/>
              <a:gd name="connsiteY0" fmla="*/ 0 h 5492212"/>
              <a:gd name="connsiteX1" fmla="*/ 7036051 w 7036051"/>
              <a:gd name="connsiteY1" fmla="*/ 0 h 5492212"/>
              <a:gd name="connsiteX2" fmla="*/ 7036051 w 7036051"/>
              <a:gd name="connsiteY2" fmla="*/ 5163846 h 5492212"/>
              <a:gd name="connsiteX3" fmla="*/ 7012593 w 7036051"/>
              <a:gd name="connsiteY3" fmla="*/ 5176898 h 5492212"/>
              <a:gd name="connsiteX4" fmla="*/ 6958601 w 7036051"/>
              <a:gd name="connsiteY4" fmla="*/ 5204359 h 5492212"/>
              <a:gd name="connsiteX5" fmla="*/ 6951226 w 7036051"/>
              <a:gd name="connsiteY5" fmla="*/ 5203241 h 5492212"/>
              <a:gd name="connsiteX6" fmla="*/ 6920864 w 7036051"/>
              <a:gd name="connsiteY6" fmla="*/ 5220003 h 5492212"/>
              <a:gd name="connsiteX7" fmla="*/ 6834841 w 7036051"/>
              <a:gd name="connsiteY7" fmla="*/ 5266115 h 5492212"/>
              <a:gd name="connsiteX8" fmla="*/ 6777937 w 7036051"/>
              <a:gd name="connsiteY8" fmla="*/ 5332502 h 5492212"/>
              <a:gd name="connsiteX9" fmla="*/ 6752874 w 7036051"/>
              <a:gd name="connsiteY9" fmla="*/ 5340428 h 5492212"/>
              <a:gd name="connsiteX10" fmla="*/ 6711115 w 7036051"/>
              <a:gd name="connsiteY10" fmla="*/ 5353924 h 5492212"/>
              <a:gd name="connsiteX11" fmla="*/ 6702149 w 7036051"/>
              <a:gd name="connsiteY11" fmla="*/ 5351500 h 5492212"/>
              <a:gd name="connsiteX12" fmla="*/ 6698458 w 7036051"/>
              <a:gd name="connsiteY12" fmla="*/ 5352743 h 5492212"/>
              <a:gd name="connsiteX13" fmla="*/ 6698049 w 7036051"/>
              <a:gd name="connsiteY13" fmla="*/ 5352570 h 5492212"/>
              <a:gd name="connsiteX14" fmla="*/ 6697297 w 7036051"/>
              <a:gd name="connsiteY14" fmla="*/ 5353134 h 5492212"/>
              <a:gd name="connsiteX15" fmla="*/ 6689118 w 7036051"/>
              <a:gd name="connsiteY15" fmla="*/ 5355890 h 5492212"/>
              <a:gd name="connsiteX16" fmla="*/ 6670605 w 7036051"/>
              <a:gd name="connsiteY16" fmla="*/ 5355427 h 5492212"/>
              <a:gd name="connsiteX17" fmla="*/ 6659606 w 7036051"/>
              <a:gd name="connsiteY17" fmla="*/ 5357084 h 5492212"/>
              <a:gd name="connsiteX18" fmla="*/ 6649636 w 7036051"/>
              <a:gd name="connsiteY18" fmla="*/ 5367869 h 5492212"/>
              <a:gd name="connsiteX19" fmla="*/ 6642159 w 7036051"/>
              <a:gd name="connsiteY19" fmla="*/ 5369506 h 5492212"/>
              <a:gd name="connsiteX20" fmla="*/ 6640764 w 7036051"/>
              <a:gd name="connsiteY20" fmla="*/ 5370991 h 5492212"/>
              <a:gd name="connsiteX21" fmla="*/ 6636665 w 7036051"/>
              <a:gd name="connsiteY21" fmla="*/ 5374002 h 5492212"/>
              <a:gd name="connsiteX22" fmla="*/ 6641287 w 7036051"/>
              <a:gd name="connsiteY22" fmla="*/ 5376181 h 5492212"/>
              <a:gd name="connsiteX23" fmla="*/ 6591018 w 7036051"/>
              <a:gd name="connsiteY23" fmla="*/ 5390981 h 5492212"/>
              <a:gd name="connsiteX24" fmla="*/ 6548326 w 7036051"/>
              <a:gd name="connsiteY24" fmla="*/ 5403583 h 5492212"/>
              <a:gd name="connsiteX25" fmla="*/ 6472868 w 7036051"/>
              <a:gd name="connsiteY25" fmla="*/ 5394733 h 5492212"/>
              <a:gd name="connsiteX26" fmla="*/ 6401194 w 7036051"/>
              <a:gd name="connsiteY26" fmla="*/ 5422870 h 5492212"/>
              <a:gd name="connsiteX27" fmla="*/ 6381961 w 7036051"/>
              <a:gd name="connsiteY27" fmla="*/ 5422940 h 5492212"/>
              <a:gd name="connsiteX28" fmla="*/ 6363834 w 7036051"/>
              <a:gd name="connsiteY28" fmla="*/ 5417751 h 5492212"/>
              <a:gd name="connsiteX29" fmla="*/ 6363997 w 7036051"/>
              <a:gd name="connsiteY29" fmla="*/ 5415912 h 5492212"/>
              <a:gd name="connsiteX30" fmla="*/ 6361124 w 7036051"/>
              <a:gd name="connsiteY30" fmla="*/ 5415066 h 5492212"/>
              <a:gd name="connsiteX31" fmla="*/ 6358507 w 7036051"/>
              <a:gd name="connsiteY31" fmla="*/ 5416224 h 5492212"/>
              <a:gd name="connsiteX32" fmla="*/ 6355073 w 7036051"/>
              <a:gd name="connsiteY32" fmla="*/ 5415242 h 5492212"/>
              <a:gd name="connsiteX33" fmla="*/ 6345676 w 7036051"/>
              <a:gd name="connsiteY33" fmla="*/ 5413049 h 5492212"/>
              <a:gd name="connsiteX34" fmla="*/ 6342596 w 7036051"/>
              <a:gd name="connsiteY34" fmla="*/ 5409297 h 5492212"/>
              <a:gd name="connsiteX35" fmla="*/ 6305742 w 7036051"/>
              <a:gd name="connsiteY35" fmla="*/ 5401622 h 5492212"/>
              <a:gd name="connsiteX36" fmla="*/ 6294445 w 7036051"/>
              <a:gd name="connsiteY36" fmla="*/ 5404149 h 5492212"/>
              <a:gd name="connsiteX37" fmla="*/ 6281414 w 7036051"/>
              <a:gd name="connsiteY37" fmla="*/ 5398024 h 5492212"/>
              <a:gd name="connsiteX38" fmla="*/ 6243972 w 7036051"/>
              <a:gd name="connsiteY38" fmla="*/ 5395807 h 5492212"/>
              <a:gd name="connsiteX39" fmla="*/ 6202379 w 7036051"/>
              <a:gd name="connsiteY39" fmla="*/ 5388661 h 5492212"/>
              <a:gd name="connsiteX40" fmla="*/ 6173010 w 7036051"/>
              <a:gd name="connsiteY40" fmla="*/ 5380606 h 5492212"/>
              <a:gd name="connsiteX41" fmla="*/ 6093421 w 7036051"/>
              <a:gd name="connsiteY41" fmla="*/ 5375473 h 5492212"/>
              <a:gd name="connsiteX42" fmla="*/ 5959474 w 7036051"/>
              <a:gd name="connsiteY42" fmla="*/ 5373386 h 5492212"/>
              <a:gd name="connsiteX43" fmla="*/ 5931492 w 7036051"/>
              <a:gd name="connsiteY43" fmla="*/ 5371513 h 5492212"/>
              <a:gd name="connsiteX44" fmla="*/ 5909558 w 7036051"/>
              <a:gd name="connsiteY44" fmla="*/ 5364228 h 5492212"/>
              <a:gd name="connsiteX45" fmla="*/ 5906319 w 7036051"/>
              <a:gd name="connsiteY45" fmla="*/ 5357590 h 5492212"/>
              <a:gd name="connsiteX46" fmla="*/ 5891268 w 7036051"/>
              <a:gd name="connsiteY46" fmla="*/ 5355650 h 5492212"/>
              <a:gd name="connsiteX47" fmla="*/ 5887711 w 7036051"/>
              <a:gd name="connsiteY47" fmla="*/ 5353947 h 5492212"/>
              <a:gd name="connsiteX48" fmla="*/ 5866852 w 7036051"/>
              <a:gd name="connsiteY48" fmla="*/ 5345374 h 5492212"/>
              <a:gd name="connsiteX49" fmla="*/ 5811310 w 7036051"/>
              <a:gd name="connsiteY49" fmla="*/ 5356530 h 5492212"/>
              <a:gd name="connsiteX50" fmla="*/ 5770689 w 7036051"/>
              <a:gd name="connsiteY50" fmla="*/ 5359014 h 5492212"/>
              <a:gd name="connsiteX51" fmla="*/ 5767719 w 7036051"/>
              <a:gd name="connsiteY51" fmla="*/ 5357260 h 5492212"/>
              <a:gd name="connsiteX52" fmla="*/ 5765688 w 7036051"/>
              <a:gd name="connsiteY52" fmla="*/ 5352793 h 5492212"/>
              <a:gd name="connsiteX53" fmla="*/ 5758598 w 7036051"/>
              <a:gd name="connsiteY53" fmla="*/ 5351053 h 5492212"/>
              <a:gd name="connsiteX54" fmla="*/ 5752036 w 7036051"/>
              <a:gd name="connsiteY54" fmla="*/ 5346019 h 5492212"/>
              <a:gd name="connsiteX55" fmla="*/ 5503590 w 7036051"/>
              <a:gd name="connsiteY55" fmla="*/ 5325537 h 5492212"/>
              <a:gd name="connsiteX56" fmla="*/ 5389848 w 7036051"/>
              <a:gd name="connsiteY56" fmla="*/ 5351472 h 5492212"/>
              <a:gd name="connsiteX57" fmla="*/ 5344450 w 7036051"/>
              <a:gd name="connsiteY57" fmla="*/ 5354840 h 5492212"/>
              <a:gd name="connsiteX58" fmla="*/ 5338428 w 7036051"/>
              <a:gd name="connsiteY58" fmla="*/ 5350516 h 5492212"/>
              <a:gd name="connsiteX59" fmla="*/ 5273489 w 7036051"/>
              <a:gd name="connsiteY59" fmla="*/ 5373945 h 5492212"/>
              <a:gd name="connsiteX60" fmla="*/ 5182701 w 7036051"/>
              <a:gd name="connsiteY60" fmla="*/ 5370075 h 5492212"/>
              <a:gd name="connsiteX61" fmla="*/ 5114856 w 7036051"/>
              <a:gd name="connsiteY61" fmla="*/ 5361037 h 5492212"/>
              <a:gd name="connsiteX62" fmla="*/ 5076532 w 7036051"/>
              <a:gd name="connsiteY62" fmla="*/ 5358612 h 5492212"/>
              <a:gd name="connsiteX63" fmla="*/ 5048954 w 7036051"/>
              <a:gd name="connsiteY63" fmla="*/ 5353915 h 5492212"/>
              <a:gd name="connsiteX64" fmla="*/ 4977087 w 7036051"/>
              <a:gd name="connsiteY64" fmla="*/ 5357736 h 5492212"/>
              <a:gd name="connsiteX65" fmla="*/ 4857261 w 7036051"/>
              <a:gd name="connsiteY65" fmla="*/ 5370659 h 5492212"/>
              <a:gd name="connsiteX66" fmla="*/ 4769845 w 7036051"/>
              <a:gd name="connsiteY66" fmla="*/ 5353264 h 5492212"/>
              <a:gd name="connsiteX67" fmla="*/ 4722220 w 7036051"/>
              <a:gd name="connsiteY67" fmla="*/ 5370534 h 5492212"/>
              <a:gd name="connsiteX68" fmla="*/ 4667552 w 7036051"/>
              <a:gd name="connsiteY68" fmla="*/ 5366753 h 5492212"/>
              <a:gd name="connsiteX69" fmla="*/ 4454472 w 7036051"/>
              <a:gd name="connsiteY69" fmla="*/ 5391442 h 5492212"/>
              <a:gd name="connsiteX70" fmla="*/ 4317219 w 7036051"/>
              <a:gd name="connsiteY70" fmla="*/ 5411554 h 5492212"/>
              <a:gd name="connsiteX71" fmla="*/ 4298346 w 7036051"/>
              <a:gd name="connsiteY71" fmla="*/ 5416146 h 5492212"/>
              <a:gd name="connsiteX72" fmla="*/ 4298228 w 7036051"/>
              <a:gd name="connsiteY72" fmla="*/ 5417983 h 5492212"/>
              <a:gd name="connsiteX73" fmla="*/ 4295233 w 7036051"/>
              <a:gd name="connsiteY73" fmla="*/ 5418735 h 5492212"/>
              <a:gd name="connsiteX74" fmla="*/ 4292799 w 7036051"/>
              <a:gd name="connsiteY74" fmla="*/ 5417494 h 5492212"/>
              <a:gd name="connsiteX75" fmla="*/ 4289225 w 7036051"/>
              <a:gd name="connsiteY75" fmla="*/ 5418364 h 5492212"/>
              <a:gd name="connsiteX76" fmla="*/ 4279515 w 7036051"/>
              <a:gd name="connsiteY76" fmla="*/ 5420247 h 5492212"/>
              <a:gd name="connsiteX77" fmla="*/ 4275872 w 7036051"/>
              <a:gd name="connsiteY77" fmla="*/ 5423890 h 5492212"/>
              <a:gd name="connsiteX78" fmla="*/ 4227055 w 7036051"/>
              <a:gd name="connsiteY78" fmla="*/ 5427466 h 5492212"/>
              <a:gd name="connsiteX79" fmla="*/ 4213123 w 7036051"/>
              <a:gd name="connsiteY79" fmla="*/ 5433155 h 5492212"/>
              <a:gd name="connsiteX80" fmla="*/ 4175436 w 7036051"/>
              <a:gd name="connsiteY80" fmla="*/ 5434156 h 5492212"/>
              <a:gd name="connsiteX81" fmla="*/ 4132856 w 7036051"/>
              <a:gd name="connsiteY81" fmla="*/ 5439937 h 5492212"/>
              <a:gd name="connsiteX82" fmla="*/ 4102333 w 7036051"/>
              <a:gd name="connsiteY82" fmla="*/ 5447021 h 5492212"/>
              <a:gd name="connsiteX83" fmla="*/ 4022159 w 7036051"/>
              <a:gd name="connsiteY83" fmla="*/ 5449566 h 5492212"/>
              <a:gd name="connsiteX84" fmla="*/ 3888224 w 7036051"/>
              <a:gd name="connsiteY84" fmla="*/ 5447312 h 5492212"/>
              <a:gd name="connsiteX85" fmla="*/ 3860026 w 7036051"/>
              <a:gd name="connsiteY85" fmla="*/ 5448274 h 5492212"/>
              <a:gd name="connsiteX86" fmla="*/ 3832796 w 7036051"/>
              <a:gd name="connsiteY86" fmla="*/ 5461349 h 5492212"/>
              <a:gd name="connsiteX87" fmla="*/ 3817485 w 7036051"/>
              <a:gd name="connsiteY87" fmla="*/ 5462797 h 5492212"/>
              <a:gd name="connsiteX88" fmla="*/ 3813676 w 7036051"/>
              <a:gd name="connsiteY88" fmla="*/ 5464379 h 5492212"/>
              <a:gd name="connsiteX89" fmla="*/ 3791563 w 7036051"/>
              <a:gd name="connsiteY89" fmla="*/ 5472259 h 5492212"/>
              <a:gd name="connsiteX90" fmla="*/ 3737858 w 7036051"/>
              <a:gd name="connsiteY90" fmla="*/ 5459331 h 5492212"/>
              <a:gd name="connsiteX91" fmla="*/ 3697716 w 7036051"/>
              <a:gd name="connsiteY91" fmla="*/ 5455539 h 5492212"/>
              <a:gd name="connsiteX92" fmla="*/ 3694487 w 7036051"/>
              <a:gd name="connsiteY92" fmla="*/ 5457193 h 5492212"/>
              <a:gd name="connsiteX93" fmla="*/ 3691779 w 7036051"/>
              <a:gd name="connsiteY93" fmla="*/ 5461582 h 5492212"/>
              <a:gd name="connsiteX94" fmla="*/ 3684442 w 7036051"/>
              <a:gd name="connsiteY94" fmla="*/ 5463086 h 5492212"/>
              <a:gd name="connsiteX95" fmla="*/ 3677129 w 7036051"/>
              <a:gd name="connsiteY95" fmla="*/ 5467898 h 5492212"/>
              <a:gd name="connsiteX96" fmla="*/ 3438897 w 7036051"/>
              <a:gd name="connsiteY96" fmla="*/ 5462195 h 5492212"/>
              <a:gd name="connsiteX97" fmla="*/ 3389756 w 7036051"/>
              <a:gd name="connsiteY97" fmla="*/ 5444428 h 5492212"/>
              <a:gd name="connsiteX98" fmla="*/ 3316666 w 7036051"/>
              <a:gd name="connsiteY98" fmla="*/ 5450736 h 5492212"/>
              <a:gd name="connsiteX99" fmla="*/ 3271894 w 7036051"/>
              <a:gd name="connsiteY99" fmla="*/ 5445907 h 5492212"/>
              <a:gd name="connsiteX100" fmla="*/ 3265228 w 7036051"/>
              <a:gd name="connsiteY100" fmla="*/ 5450024 h 5492212"/>
              <a:gd name="connsiteX101" fmla="*/ 3204017 w 7036051"/>
              <a:gd name="connsiteY101" fmla="*/ 5424552 h 5492212"/>
              <a:gd name="connsiteX102" fmla="*/ 3112867 w 7036051"/>
              <a:gd name="connsiteY102" fmla="*/ 5425473 h 5492212"/>
              <a:gd name="connsiteX103" fmla="*/ 3043809 w 7036051"/>
              <a:gd name="connsiteY103" fmla="*/ 5432293 h 5492212"/>
              <a:gd name="connsiteX104" fmla="*/ 3005211 w 7036051"/>
              <a:gd name="connsiteY104" fmla="*/ 5433472 h 5492212"/>
              <a:gd name="connsiteX105" fmla="*/ 2976986 w 7036051"/>
              <a:gd name="connsiteY105" fmla="*/ 5437264 h 5492212"/>
              <a:gd name="connsiteX106" fmla="*/ 2905879 w 7036051"/>
              <a:gd name="connsiteY106" fmla="*/ 5431128 h 5492212"/>
              <a:gd name="connsiteX107" fmla="*/ 2788318 w 7036051"/>
              <a:gd name="connsiteY107" fmla="*/ 5414358 h 5492212"/>
              <a:gd name="connsiteX108" fmla="*/ 2653590 w 7036051"/>
              <a:gd name="connsiteY108" fmla="*/ 5410111 h 5492212"/>
              <a:gd name="connsiteX109" fmla="*/ 2598481 w 7036051"/>
              <a:gd name="connsiteY109" fmla="*/ 5412114 h 5492212"/>
              <a:gd name="connsiteX110" fmla="*/ 2333897 w 7036051"/>
              <a:gd name="connsiteY110" fmla="*/ 5408505 h 5492212"/>
              <a:gd name="connsiteX111" fmla="*/ 2271841 w 7036051"/>
              <a:gd name="connsiteY111" fmla="*/ 5396433 h 5492212"/>
              <a:gd name="connsiteX112" fmla="*/ 2143705 w 7036051"/>
              <a:gd name="connsiteY112" fmla="*/ 5345095 h 5492212"/>
              <a:gd name="connsiteX113" fmla="*/ 1986408 w 7036051"/>
              <a:gd name="connsiteY113" fmla="*/ 5335524 h 5492212"/>
              <a:gd name="connsiteX114" fmla="*/ 1975333 w 7036051"/>
              <a:gd name="connsiteY114" fmla="*/ 5325099 h 5492212"/>
              <a:gd name="connsiteX115" fmla="*/ 1972441 w 7036051"/>
              <a:gd name="connsiteY115" fmla="*/ 5323775 h 5492212"/>
              <a:gd name="connsiteX116" fmla="*/ 1971497 w 7036051"/>
              <a:gd name="connsiteY116" fmla="*/ 5324412 h 5492212"/>
              <a:gd name="connsiteX117" fmla="*/ 1956886 w 7036051"/>
              <a:gd name="connsiteY117" fmla="*/ 5327069 h 5492212"/>
              <a:gd name="connsiteX118" fmla="*/ 1924833 w 7036051"/>
              <a:gd name="connsiteY118" fmla="*/ 5344911 h 5492212"/>
              <a:gd name="connsiteX119" fmla="*/ 1885856 w 7036051"/>
              <a:gd name="connsiteY119" fmla="*/ 5367299 h 5492212"/>
              <a:gd name="connsiteX120" fmla="*/ 1855937 w 7036051"/>
              <a:gd name="connsiteY120" fmla="*/ 5372820 h 5492212"/>
              <a:gd name="connsiteX121" fmla="*/ 1784500 w 7036051"/>
              <a:gd name="connsiteY121" fmla="*/ 5395926 h 5492212"/>
              <a:gd name="connsiteX122" fmla="*/ 1737998 w 7036051"/>
              <a:gd name="connsiteY122" fmla="*/ 5407426 h 5492212"/>
              <a:gd name="connsiteX123" fmla="*/ 1736716 w 7036051"/>
              <a:gd name="connsiteY123" fmla="*/ 5407939 h 5492212"/>
              <a:gd name="connsiteX124" fmla="*/ 1726742 w 7036051"/>
              <a:gd name="connsiteY124" fmla="*/ 5405934 h 5492212"/>
              <a:gd name="connsiteX125" fmla="*/ 1726849 w 7036051"/>
              <a:gd name="connsiteY125" fmla="*/ 5401221 h 5492212"/>
              <a:gd name="connsiteX126" fmla="*/ 1718134 w 7036051"/>
              <a:gd name="connsiteY126" fmla="*/ 5398128 h 5492212"/>
              <a:gd name="connsiteX127" fmla="*/ 1701063 w 7036051"/>
              <a:gd name="connsiteY127" fmla="*/ 5400545 h 5492212"/>
              <a:gd name="connsiteX128" fmla="*/ 1694634 w 7036051"/>
              <a:gd name="connsiteY128" fmla="*/ 5398728 h 5492212"/>
              <a:gd name="connsiteX129" fmla="*/ 1692270 w 7036051"/>
              <a:gd name="connsiteY129" fmla="*/ 5399053 h 5492212"/>
              <a:gd name="connsiteX130" fmla="*/ 1686657 w 7036051"/>
              <a:gd name="connsiteY130" fmla="*/ 5399247 h 5492212"/>
              <a:gd name="connsiteX131" fmla="*/ 1687479 w 7036051"/>
              <a:gd name="connsiteY131" fmla="*/ 5402165 h 5492212"/>
              <a:gd name="connsiteX132" fmla="*/ 1680969 w 7036051"/>
              <a:gd name="connsiteY132" fmla="*/ 5407963 h 5492212"/>
              <a:gd name="connsiteX133" fmla="*/ 1648682 w 7036051"/>
              <a:gd name="connsiteY133" fmla="*/ 5407558 h 5492212"/>
              <a:gd name="connsiteX134" fmla="*/ 1646819 w 7036051"/>
              <a:gd name="connsiteY134" fmla="*/ 5404306 h 5492212"/>
              <a:gd name="connsiteX135" fmla="*/ 1642743 w 7036051"/>
              <a:gd name="connsiteY135" fmla="*/ 5403927 h 5492212"/>
              <a:gd name="connsiteX136" fmla="*/ 1639788 w 7036051"/>
              <a:gd name="connsiteY136" fmla="*/ 5407135 h 5492212"/>
              <a:gd name="connsiteX137" fmla="*/ 1585803 w 7036051"/>
              <a:gd name="connsiteY137" fmla="*/ 5416574 h 5492212"/>
              <a:gd name="connsiteX138" fmla="*/ 1513331 w 7036051"/>
              <a:gd name="connsiteY138" fmla="*/ 5423805 h 5492212"/>
              <a:gd name="connsiteX139" fmla="*/ 1460734 w 7036051"/>
              <a:gd name="connsiteY139" fmla="*/ 5411778 h 5492212"/>
              <a:gd name="connsiteX140" fmla="*/ 1456045 w 7036051"/>
              <a:gd name="connsiteY140" fmla="*/ 5414928 h 5492212"/>
              <a:gd name="connsiteX141" fmla="*/ 1419653 w 7036051"/>
              <a:gd name="connsiteY141" fmla="*/ 5415060 h 5492212"/>
              <a:gd name="connsiteX142" fmla="*/ 1292605 w 7036051"/>
              <a:gd name="connsiteY142" fmla="*/ 5394671 h 5492212"/>
              <a:gd name="connsiteX143" fmla="*/ 1221477 w 7036051"/>
              <a:gd name="connsiteY143" fmla="*/ 5395509 h 5492212"/>
              <a:gd name="connsiteX144" fmla="*/ 1196159 w 7036051"/>
              <a:gd name="connsiteY144" fmla="*/ 5399169 h 5492212"/>
              <a:gd name="connsiteX145" fmla="*/ 1153748 w 7036051"/>
              <a:gd name="connsiteY145" fmla="*/ 5405093 h 5492212"/>
              <a:gd name="connsiteX146" fmla="*/ 1121874 w 7036051"/>
              <a:gd name="connsiteY146" fmla="*/ 5417803 h 5492212"/>
              <a:gd name="connsiteX147" fmla="*/ 1086481 w 7036051"/>
              <a:gd name="connsiteY147" fmla="*/ 5419474 h 5492212"/>
              <a:gd name="connsiteX148" fmla="*/ 1078485 w 7036051"/>
              <a:gd name="connsiteY148" fmla="*/ 5409150 h 5492212"/>
              <a:gd name="connsiteX149" fmla="*/ 1040550 w 7036051"/>
              <a:gd name="connsiteY149" fmla="*/ 5414415 h 5492212"/>
              <a:gd name="connsiteX150" fmla="*/ 982981 w 7036051"/>
              <a:gd name="connsiteY150" fmla="*/ 5423575 h 5492212"/>
              <a:gd name="connsiteX151" fmla="*/ 949836 w 7036051"/>
              <a:gd name="connsiteY151" fmla="*/ 5426093 h 5492212"/>
              <a:gd name="connsiteX152" fmla="*/ 859237 w 7036051"/>
              <a:gd name="connsiteY152" fmla="*/ 5435973 h 5492212"/>
              <a:gd name="connsiteX153" fmla="*/ 768445 w 7036051"/>
              <a:gd name="connsiteY153" fmla="*/ 5448159 h 5492212"/>
              <a:gd name="connsiteX154" fmla="*/ 714393 w 7036051"/>
              <a:gd name="connsiteY154" fmla="*/ 5468302 h 5492212"/>
              <a:gd name="connsiteX155" fmla="*/ 639791 w 7036051"/>
              <a:gd name="connsiteY155" fmla="*/ 5476924 h 5492212"/>
              <a:gd name="connsiteX156" fmla="*/ 627266 w 7036051"/>
              <a:gd name="connsiteY156" fmla="*/ 5480260 h 5492212"/>
              <a:gd name="connsiteX157" fmla="*/ 609977 w 7036051"/>
              <a:gd name="connsiteY157" fmla="*/ 5478891 h 5492212"/>
              <a:gd name="connsiteX158" fmla="*/ 540688 w 7036051"/>
              <a:gd name="connsiteY158" fmla="*/ 5472807 h 5492212"/>
              <a:gd name="connsiteX159" fmla="*/ 486194 w 7036051"/>
              <a:gd name="connsiteY159" fmla="*/ 5462661 h 5492212"/>
              <a:gd name="connsiteX160" fmla="*/ 418164 w 7036051"/>
              <a:gd name="connsiteY160" fmla="*/ 5472485 h 5492212"/>
              <a:gd name="connsiteX161" fmla="*/ 376724 w 7036051"/>
              <a:gd name="connsiteY161" fmla="*/ 5470967 h 5492212"/>
              <a:gd name="connsiteX162" fmla="*/ 308908 w 7036051"/>
              <a:gd name="connsiteY162" fmla="*/ 5457025 h 5492212"/>
              <a:gd name="connsiteX163" fmla="*/ 219416 w 7036051"/>
              <a:gd name="connsiteY163" fmla="*/ 5463995 h 5492212"/>
              <a:gd name="connsiteX164" fmla="*/ 200977 w 7036051"/>
              <a:gd name="connsiteY164" fmla="*/ 5480608 h 5492212"/>
              <a:gd name="connsiteX165" fmla="*/ 176226 w 7036051"/>
              <a:gd name="connsiteY165" fmla="*/ 5491022 h 5492212"/>
              <a:gd name="connsiteX166" fmla="*/ 165702 w 7036051"/>
              <a:gd name="connsiteY166" fmla="*/ 5468604 h 5492212"/>
              <a:gd name="connsiteX167" fmla="*/ 88282 w 7036051"/>
              <a:gd name="connsiteY167" fmla="*/ 5453658 h 5492212"/>
              <a:gd name="connsiteX168" fmla="*/ 49602 w 7036051"/>
              <a:gd name="connsiteY168" fmla="*/ 5448762 h 5492212"/>
              <a:gd name="connsiteX169" fmla="*/ 22844 w 7036051"/>
              <a:gd name="connsiteY169" fmla="*/ 5450459 h 5492212"/>
              <a:gd name="connsiteX170" fmla="*/ 0 w 7036051"/>
              <a:gd name="connsiteY170" fmla="*/ 5447653 h 5492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Lst>
            <a:rect l="l" t="t" r="r" b="b"/>
            <a:pathLst>
              <a:path w="7036051" h="5492212">
                <a:moveTo>
                  <a:pt x="0" y="0"/>
                </a:moveTo>
                <a:lnTo>
                  <a:pt x="7036051" y="0"/>
                </a:lnTo>
                <a:lnTo>
                  <a:pt x="7036051" y="5163846"/>
                </a:lnTo>
                <a:lnTo>
                  <a:pt x="7012593" y="5176898"/>
                </a:lnTo>
                <a:cubicBezTo>
                  <a:pt x="7010768" y="5193373"/>
                  <a:pt x="6968133" y="5178026"/>
                  <a:pt x="6958601" y="5204359"/>
                </a:cubicBezTo>
                <a:cubicBezTo>
                  <a:pt x="6956255" y="5203750"/>
                  <a:pt x="6953771" y="5203373"/>
                  <a:pt x="6951226" y="5203241"/>
                </a:cubicBezTo>
                <a:cubicBezTo>
                  <a:pt x="6936441" y="5202478"/>
                  <a:pt x="6922846" y="5209982"/>
                  <a:pt x="6920864" y="5220003"/>
                </a:cubicBezTo>
                <a:cubicBezTo>
                  <a:pt x="6902003" y="5258795"/>
                  <a:pt x="6863469" y="5243876"/>
                  <a:pt x="6834841" y="5266115"/>
                </a:cubicBezTo>
                <a:cubicBezTo>
                  <a:pt x="6800315" y="5289373"/>
                  <a:pt x="6805780" y="5289922"/>
                  <a:pt x="6777937" y="5332502"/>
                </a:cubicBezTo>
                <a:cubicBezTo>
                  <a:pt x="6765321" y="5328518"/>
                  <a:pt x="6759096" y="5331534"/>
                  <a:pt x="6752874" y="5340428"/>
                </a:cubicBezTo>
                <a:cubicBezTo>
                  <a:pt x="6735526" y="5351218"/>
                  <a:pt x="6717730" y="5333264"/>
                  <a:pt x="6711115" y="5353924"/>
                </a:cubicBezTo>
                <a:cubicBezTo>
                  <a:pt x="6709352" y="5351156"/>
                  <a:pt x="6706090" y="5350761"/>
                  <a:pt x="6702149" y="5351500"/>
                </a:cubicBezTo>
                <a:lnTo>
                  <a:pt x="6698458" y="5352743"/>
                </a:lnTo>
                <a:lnTo>
                  <a:pt x="6698049" y="5352570"/>
                </a:lnTo>
                <a:lnTo>
                  <a:pt x="6697297" y="5353134"/>
                </a:lnTo>
                <a:lnTo>
                  <a:pt x="6689118" y="5355890"/>
                </a:lnTo>
                <a:cubicBezTo>
                  <a:pt x="6680171" y="5359440"/>
                  <a:pt x="6671805" y="5362584"/>
                  <a:pt x="6670605" y="5355427"/>
                </a:cubicBezTo>
                <a:cubicBezTo>
                  <a:pt x="6665330" y="5354991"/>
                  <a:pt x="6661976" y="5355734"/>
                  <a:pt x="6659606" y="5357084"/>
                </a:cubicBezTo>
                <a:cubicBezTo>
                  <a:pt x="6654864" y="5359782"/>
                  <a:pt x="6654050" y="5364908"/>
                  <a:pt x="6649636" y="5367869"/>
                </a:cubicBezTo>
                <a:lnTo>
                  <a:pt x="6642159" y="5369506"/>
                </a:lnTo>
                <a:lnTo>
                  <a:pt x="6640764" y="5370991"/>
                </a:lnTo>
                <a:lnTo>
                  <a:pt x="6636665" y="5374002"/>
                </a:lnTo>
                <a:lnTo>
                  <a:pt x="6641287" y="5376181"/>
                </a:lnTo>
                <a:cubicBezTo>
                  <a:pt x="6646080" y="5377976"/>
                  <a:pt x="6597903" y="5386514"/>
                  <a:pt x="6591018" y="5390981"/>
                </a:cubicBezTo>
                <a:lnTo>
                  <a:pt x="6548326" y="5403583"/>
                </a:lnTo>
                <a:lnTo>
                  <a:pt x="6472868" y="5394733"/>
                </a:lnTo>
                <a:cubicBezTo>
                  <a:pt x="6457699" y="5415896"/>
                  <a:pt x="6417760" y="5410703"/>
                  <a:pt x="6401194" y="5422870"/>
                </a:cubicBezTo>
                <a:lnTo>
                  <a:pt x="6381961" y="5422940"/>
                </a:lnTo>
                <a:lnTo>
                  <a:pt x="6363834" y="5417751"/>
                </a:lnTo>
                <a:lnTo>
                  <a:pt x="6363997" y="5415912"/>
                </a:lnTo>
                <a:cubicBezTo>
                  <a:pt x="6363602" y="5414702"/>
                  <a:pt x="6362617" y="5414594"/>
                  <a:pt x="6361124" y="5415066"/>
                </a:cubicBezTo>
                <a:lnTo>
                  <a:pt x="6358507" y="5416224"/>
                </a:lnTo>
                <a:lnTo>
                  <a:pt x="6355073" y="5415242"/>
                </a:lnTo>
                <a:lnTo>
                  <a:pt x="6345676" y="5413049"/>
                </a:lnTo>
                <a:lnTo>
                  <a:pt x="6342596" y="5409297"/>
                </a:lnTo>
                <a:cubicBezTo>
                  <a:pt x="6333502" y="5403420"/>
                  <a:pt x="6312379" y="5410664"/>
                  <a:pt x="6305742" y="5401622"/>
                </a:cubicBezTo>
                <a:lnTo>
                  <a:pt x="6294445" y="5404149"/>
                </a:lnTo>
                <a:lnTo>
                  <a:pt x="6281414" y="5398024"/>
                </a:lnTo>
                <a:cubicBezTo>
                  <a:pt x="6269392" y="5392983"/>
                  <a:pt x="6257013" y="5390092"/>
                  <a:pt x="6243972" y="5395807"/>
                </a:cubicBezTo>
                <a:cubicBezTo>
                  <a:pt x="6248312" y="5382942"/>
                  <a:pt x="6211634" y="5399629"/>
                  <a:pt x="6202379" y="5388661"/>
                </a:cubicBezTo>
                <a:cubicBezTo>
                  <a:pt x="6196568" y="5379556"/>
                  <a:pt x="6184084" y="5382499"/>
                  <a:pt x="6173010" y="5380606"/>
                </a:cubicBezTo>
                <a:cubicBezTo>
                  <a:pt x="6162384" y="5372079"/>
                  <a:pt x="6109972" y="5371285"/>
                  <a:pt x="6093421" y="5375473"/>
                </a:cubicBezTo>
                <a:cubicBezTo>
                  <a:pt x="6048943" y="5392971"/>
                  <a:pt x="5995413" y="5360396"/>
                  <a:pt x="5959474" y="5373386"/>
                </a:cubicBezTo>
                <a:cubicBezTo>
                  <a:pt x="5949048" y="5374123"/>
                  <a:pt x="5939860" y="5373301"/>
                  <a:pt x="5931492" y="5371513"/>
                </a:cubicBezTo>
                <a:lnTo>
                  <a:pt x="5909558" y="5364228"/>
                </a:lnTo>
                <a:lnTo>
                  <a:pt x="5906319" y="5357590"/>
                </a:lnTo>
                <a:lnTo>
                  <a:pt x="5891268" y="5355650"/>
                </a:lnTo>
                <a:lnTo>
                  <a:pt x="5887711" y="5353947"/>
                </a:lnTo>
                <a:cubicBezTo>
                  <a:pt x="5880924" y="5350671"/>
                  <a:pt x="5874113" y="5347614"/>
                  <a:pt x="5866852" y="5345374"/>
                </a:cubicBezTo>
                <a:cubicBezTo>
                  <a:pt x="5859911" y="5373405"/>
                  <a:pt x="5803959" y="5330929"/>
                  <a:pt x="5811310" y="5356530"/>
                </a:cubicBezTo>
                <a:cubicBezTo>
                  <a:pt x="5780489" y="5350949"/>
                  <a:pt x="5782784" y="5364359"/>
                  <a:pt x="5770689" y="5359014"/>
                </a:cubicBezTo>
                <a:lnTo>
                  <a:pt x="5767719" y="5357260"/>
                </a:lnTo>
                <a:lnTo>
                  <a:pt x="5765688" y="5352793"/>
                </a:lnTo>
                <a:lnTo>
                  <a:pt x="5758598" y="5351053"/>
                </a:lnTo>
                <a:lnTo>
                  <a:pt x="5752036" y="5346019"/>
                </a:lnTo>
                <a:cubicBezTo>
                  <a:pt x="5676031" y="5353035"/>
                  <a:pt x="5573285" y="5304575"/>
                  <a:pt x="5503590" y="5325537"/>
                </a:cubicBezTo>
                <a:lnTo>
                  <a:pt x="5389848" y="5351472"/>
                </a:lnTo>
                <a:cubicBezTo>
                  <a:pt x="5378275" y="5360535"/>
                  <a:pt x="5357949" y="5362044"/>
                  <a:pt x="5344450" y="5354840"/>
                </a:cubicBezTo>
                <a:cubicBezTo>
                  <a:pt x="5342129" y="5353601"/>
                  <a:pt x="5340101" y="5352144"/>
                  <a:pt x="5338428" y="5350516"/>
                </a:cubicBezTo>
                <a:cubicBezTo>
                  <a:pt x="5303858" y="5372450"/>
                  <a:pt x="5291134" y="5358414"/>
                  <a:pt x="5273489" y="5373945"/>
                </a:cubicBezTo>
                <a:cubicBezTo>
                  <a:pt x="5228455" y="5376430"/>
                  <a:pt x="5198895" y="5356533"/>
                  <a:pt x="5182701" y="5370075"/>
                </a:cubicBezTo>
                <a:cubicBezTo>
                  <a:pt x="5161004" y="5366959"/>
                  <a:pt x="5136154" y="5346791"/>
                  <a:pt x="5114856" y="5361037"/>
                </a:cubicBezTo>
                <a:cubicBezTo>
                  <a:pt x="5116518" y="5347803"/>
                  <a:pt x="5086668" y="5368445"/>
                  <a:pt x="5076532" y="5358612"/>
                </a:cubicBezTo>
                <a:cubicBezTo>
                  <a:pt x="5069788" y="5350240"/>
                  <a:pt x="5059157" y="5354551"/>
                  <a:pt x="5048954" y="5353915"/>
                </a:cubicBezTo>
                <a:cubicBezTo>
                  <a:pt x="5038015" y="5346654"/>
                  <a:pt x="4991132" y="5351733"/>
                  <a:pt x="4977087" y="5357736"/>
                </a:cubicBezTo>
                <a:cubicBezTo>
                  <a:pt x="4940420" y="5380054"/>
                  <a:pt x="4887089" y="5353763"/>
                  <a:pt x="4857261" y="5370659"/>
                </a:cubicBezTo>
                <a:cubicBezTo>
                  <a:pt x="4820568" y="5378246"/>
                  <a:pt x="4797284" y="5358899"/>
                  <a:pt x="4769845" y="5353264"/>
                </a:cubicBezTo>
                <a:cubicBezTo>
                  <a:pt x="4768462" y="5381819"/>
                  <a:pt x="4711275" y="5345988"/>
                  <a:pt x="4722220" y="5370534"/>
                </a:cubicBezTo>
                <a:cubicBezTo>
                  <a:pt x="4684293" y="5367762"/>
                  <a:pt x="4704662" y="5391854"/>
                  <a:pt x="4667552" y="5366753"/>
                </a:cubicBezTo>
                <a:cubicBezTo>
                  <a:pt x="4600967" y="5382212"/>
                  <a:pt x="4513038" y="5362869"/>
                  <a:pt x="4454472" y="5391442"/>
                </a:cubicBezTo>
                <a:lnTo>
                  <a:pt x="4317219" y="5411554"/>
                </a:lnTo>
                <a:lnTo>
                  <a:pt x="4298346" y="5416146"/>
                </a:lnTo>
                <a:cubicBezTo>
                  <a:pt x="4298306" y="5416758"/>
                  <a:pt x="4298267" y="5417371"/>
                  <a:pt x="4298228" y="5417983"/>
                </a:cubicBezTo>
                <a:cubicBezTo>
                  <a:pt x="4297649" y="5419178"/>
                  <a:pt x="4296651" y="5419253"/>
                  <a:pt x="4295233" y="5418735"/>
                </a:cubicBezTo>
                <a:lnTo>
                  <a:pt x="4292799" y="5417494"/>
                </a:lnTo>
                <a:lnTo>
                  <a:pt x="4289225" y="5418364"/>
                </a:lnTo>
                <a:lnTo>
                  <a:pt x="4279515" y="5420247"/>
                </a:lnTo>
                <a:lnTo>
                  <a:pt x="4275872" y="5423890"/>
                </a:lnTo>
                <a:lnTo>
                  <a:pt x="4227055" y="5427466"/>
                </a:lnTo>
                <a:lnTo>
                  <a:pt x="4213123" y="5433155"/>
                </a:lnTo>
                <a:cubicBezTo>
                  <a:pt x="4200364" y="5437794"/>
                  <a:pt x="4187574" y="5440279"/>
                  <a:pt x="4175436" y="5434156"/>
                </a:cubicBezTo>
                <a:cubicBezTo>
                  <a:pt x="4177805" y="5447129"/>
                  <a:pt x="4143760" y="5429295"/>
                  <a:pt x="4132856" y="5439937"/>
                </a:cubicBezTo>
                <a:cubicBezTo>
                  <a:pt x="4125673" y="5448831"/>
                  <a:pt x="4113669" y="5445492"/>
                  <a:pt x="4102333" y="5447021"/>
                </a:cubicBezTo>
                <a:cubicBezTo>
                  <a:pt x="4090434" y="5455185"/>
                  <a:pt x="4038031" y="5454280"/>
                  <a:pt x="4022159" y="5449566"/>
                </a:cubicBezTo>
                <a:cubicBezTo>
                  <a:pt x="3980455" y="5430671"/>
                  <a:pt x="3922096" y="5461433"/>
                  <a:pt x="3888224" y="5447312"/>
                </a:cubicBezTo>
                <a:cubicBezTo>
                  <a:pt x="3877937" y="5446239"/>
                  <a:pt x="3868647" y="5446763"/>
                  <a:pt x="3860026" y="5448274"/>
                </a:cubicBezTo>
                <a:lnTo>
                  <a:pt x="3832796" y="5461349"/>
                </a:lnTo>
                <a:lnTo>
                  <a:pt x="3817485" y="5462797"/>
                </a:lnTo>
                <a:lnTo>
                  <a:pt x="3813676" y="5464379"/>
                </a:lnTo>
                <a:cubicBezTo>
                  <a:pt x="3806407" y="5467429"/>
                  <a:pt x="3799147" y="5470257"/>
                  <a:pt x="3791563" y="5472259"/>
                </a:cubicBezTo>
                <a:cubicBezTo>
                  <a:pt x="3788910" y="5444072"/>
                  <a:pt x="3726624" y="5484631"/>
                  <a:pt x="3737858" y="5459331"/>
                </a:cubicBezTo>
                <a:cubicBezTo>
                  <a:pt x="3706262" y="5463900"/>
                  <a:pt x="3710598" y="5450598"/>
                  <a:pt x="3697716" y="5455539"/>
                </a:cubicBezTo>
                <a:lnTo>
                  <a:pt x="3694487" y="5457193"/>
                </a:lnTo>
                <a:lnTo>
                  <a:pt x="3691779" y="5461582"/>
                </a:lnTo>
                <a:lnTo>
                  <a:pt x="3684442" y="5463086"/>
                </a:lnTo>
                <a:lnTo>
                  <a:pt x="3677129" y="5467898"/>
                </a:lnTo>
                <a:cubicBezTo>
                  <a:pt x="3602381" y="5458439"/>
                  <a:pt x="3505226" y="5485361"/>
                  <a:pt x="3438897" y="5462195"/>
                </a:cubicBezTo>
                <a:lnTo>
                  <a:pt x="3389756" y="5444428"/>
                </a:lnTo>
                <a:cubicBezTo>
                  <a:pt x="3364455" y="5437704"/>
                  <a:pt x="3342081" y="5466704"/>
                  <a:pt x="3316666" y="5450736"/>
                </a:cubicBezTo>
                <a:cubicBezTo>
                  <a:pt x="3306503" y="5441319"/>
                  <a:pt x="3286457" y="5439158"/>
                  <a:pt x="3271894" y="5445907"/>
                </a:cubicBezTo>
                <a:cubicBezTo>
                  <a:pt x="3269388" y="5447068"/>
                  <a:pt x="3267143" y="5448455"/>
                  <a:pt x="3265228" y="5450024"/>
                </a:cubicBezTo>
                <a:cubicBezTo>
                  <a:pt x="3234084" y="5427025"/>
                  <a:pt x="3219254" y="5440615"/>
                  <a:pt x="3204017" y="5424552"/>
                </a:cubicBezTo>
                <a:cubicBezTo>
                  <a:pt x="3159473" y="5420614"/>
                  <a:pt x="3126956" y="5439505"/>
                  <a:pt x="3112867" y="5425473"/>
                </a:cubicBezTo>
                <a:cubicBezTo>
                  <a:pt x="3090747" y="5427880"/>
                  <a:pt x="3062886" y="5447193"/>
                  <a:pt x="3043809" y="5432293"/>
                </a:cubicBezTo>
                <a:cubicBezTo>
                  <a:pt x="3043452" y="5445549"/>
                  <a:pt x="3016821" y="5423991"/>
                  <a:pt x="3005211" y="5433472"/>
                </a:cubicBezTo>
                <a:cubicBezTo>
                  <a:pt x="2997207" y="5441605"/>
                  <a:pt x="2987260" y="5436961"/>
                  <a:pt x="2976986" y="5437264"/>
                </a:cubicBezTo>
                <a:cubicBezTo>
                  <a:pt x="2964968" y="5444153"/>
                  <a:pt x="2918975" y="5437570"/>
                  <a:pt x="2905879" y="5431128"/>
                </a:cubicBezTo>
                <a:cubicBezTo>
                  <a:pt x="2872703" y="5407678"/>
                  <a:pt x="2815496" y="5432178"/>
                  <a:pt x="2788318" y="5414358"/>
                </a:cubicBezTo>
                <a:cubicBezTo>
                  <a:pt x="2746271" y="5410854"/>
                  <a:pt x="2685231" y="5410484"/>
                  <a:pt x="2653590" y="5410111"/>
                </a:cubicBezTo>
                <a:cubicBezTo>
                  <a:pt x="2615334" y="5411650"/>
                  <a:pt x="2639324" y="5388277"/>
                  <a:pt x="2598481" y="5412114"/>
                </a:cubicBezTo>
                <a:cubicBezTo>
                  <a:pt x="2534415" y="5394537"/>
                  <a:pt x="2387966" y="5438902"/>
                  <a:pt x="2333897" y="5408505"/>
                </a:cubicBezTo>
                <a:cubicBezTo>
                  <a:pt x="2279458" y="5405891"/>
                  <a:pt x="2312839" y="5402348"/>
                  <a:pt x="2271841" y="5396433"/>
                </a:cubicBezTo>
                <a:cubicBezTo>
                  <a:pt x="2263465" y="5363868"/>
                  <a:pt x="2168184" y="5361433"/>
                  <a:pt x="2143705" y="5345095"/>
                </a:cubicBezTo>
                <a:cubicBezTo>
                  <a:pt x="2087043" y="5343333"/>
                  <a:pt x="2041689" y="5319742"/>
                  <a:pt x="1986408" y="5335524"/>
                </a:cubicBezTo>
                <a:cubicBezTo>
                  <a:pt x="1983594" y="5331315"/>
                  <a:pt x="1979798" y="5327915"/>
                  <a:pt x="1975333" y="5325099"/>
                </a:cubicBezTo>
                <a:lnTo>
                  <a:pt x="1972441" y="5323775"/>
                </a:lnTo>
                <a:lnTo>
                  <a:pt x="1971497" y="5324412"/>
                </a:lnTo>
                <a:cubicBezTo>
                  <a:pt x="1967825" y="5325937"/>
                  <a:pt x="1963255" y="5326871"/>
                  <a:pt x="1956886" y="5327069"/>
                </a:cubicBezTo>
                <a:cubicBezTo>
                  <a:pt x="1957692" y="5357103"/>
                  <a:pt x="1944755" y="5337483"/>
                  <a:pt x="1924833" y="5344911"/>
                </a:cubicBezTo>
                <a:cubicBezTo>
                  <a:pt x="1907350" y="5349449"/>
                  <a:pt x="1899872" y="5360515"/>
                  <a:pt x="1885856" y="5367299"/>
                </a:cubicBezTo>
                <a:cubicBezTo>
                  <a:pt x="1874373" y="5371950"/>
                  <a:pt x="1870677" y="5363227"/>
                  <a:pt x="1855937" y="5372820"/>
                </a:cubicBezTo>
                <a:cubicBezTo>
                  <a:pt x="1826799" y="5367486"/>
                  <a:pt x="1805938" y="5389998"/>
                  <a:pt x="1784500" y="5395926"/>
                </a:cubicBezTo>
                <a:cubicBezTo>
                  <a:pt x="1777473" y="5395836"/>
                  <a:pt x="1756895" y="5401012"/>
                  <a:pt x="1737998" y="5407426"/>
                </a:cubicBezTo>
                <a:lnTo>
                  <a:pt x="1736716" y="5407939"/>
                </a:lnTo>
                <a:lnTo>
                  <a:pt x="1726742" y="5405934"/>
                </a:lnTo>
                <a:cubicBezTo>
                  <a:pt x="1724249" y="5404894"/>
                  <a:pt x="1723700" y="5403454"/>
                  <a:pt x="1726849" y="5401221"/>
                </a:cubicBezTo>
                <a:cubicBezTo>
                  <a:pt x="1723886" y="5399045"/>
                  <a:pt x="1720993" y="5398236"/>
                  <a:pt x="1718134" y="5398128"/>
                </a:cubicBezTo>
                <a:cubicBezTo>
                  <a:pt x="1712416" y="5397910"/>
                  <a:pt x="1706830" y="5400494"/>
                  <a:pt x="1701063" y="5400545"/>
                </a:cubicBezTo>
                <a:lnTo>
                  <a:pt x="1694634" y="5398728"/>
                </a:lnTo>
                <a:lnTo>
                  <a:pt x="1692270" y="5399053"/>
                </a:lnTo>
                <a:lnTo>
                  <a:pt x="1686657" y="5399247"/>
                </a:lnTo>
                <a:lnTo>
                  <a:pt x="1687479" y="5402165"/>
                </a:lnTo>
                <a:cubicBezTo>
                  <a:pt x="1688791" y="5404927"/>
                  <a:pt x="1689812" y="5407972"/>
                  <a:pt x="1680969" y="5407963"/>
                </a:cubicBezTo>
                <a:cubicBezTo>
                  <a:pt x="1662599" y="5406532"/>
                  <a:pt x="1656841" y="5418932"/>
                  <a:pt x="1648682" y="5407558"/>
                </a:cubicBezTo>
                <a:lnTo>
                  <a:pt x="1646819" y="5404306"/>
                </a:lnTo>
                <a:lnTo>
                  <a:pt x="1642743" y="5403927"/>
                </a:lnTo>
                <a:cubicBezTo>
                  <a:pt x="1640569" y="5404120"/>
                  <a:pt x="1639361" y="5404983"/>
                  <a:pt x="1639788" y="5407135"/>
                </a:cubicBezTo>
                <a:cubicBezTo>
                  <a:pt x="1622347" y="5398881"/>
                  <a:pt x="1603063" y="5413406"/>
                  <a:pt x="1585803" y="5416574"/>
                </a:cubicBezTo>
                <a:cubicBezTo>
                  <a:pt x="1572467" y="5408520"/>
                  <a:pt x="1549407" y="5423110"/>
                  <a:pt x="1513331" y="5423805"/>
                </a:cubicBezTo>
                <a:cubicBezTo>
                  <a:pt x="1498774" y="5414520"/>
                  <a:pt x="1489007" y="5424393"/>
                  <a:pt x="1460734" y="5411778"/>
                </a:cubicBezTo>
                <a:cubicBezTo>
                  <a:pt x="1459446" y="5412932"/>
                  <a:pt x="1457867" y="5413992"/>
                  <a:pt x="1456045" y="5414928"/>
                </a:cubicBezTo>
                <a:cubicBezTo>
                  <a:pt x="1445460" y="5420354"/>
                  <a:pt x="1429166" y="5420415"/>
                  <a:pt x="1419653" y="5415060"/>
                </a:cubicBezTo>
                <a:cubicBezTo>
                  <a:pt x="1374353" y="5398095"/>
                  <a:pt x="1332064" y="5398411"/>
                  <a:pt x="1292605" y="5394671"/>
                </a:cubicBezTo>
                <a:cubicBezTo>
                  <a:pt x="1247867" y="5392301"/>
                  <a:pt x="1276603" y="5411730"/>
                  <a:pt x="1221477" y="5395509"/>
                </a:cubicBezTo>
                <a:cubicBezTo>
                  <a:pt x="1215107" y="5402140"/>
                  <a:pt x="1207983" y="5402421"/>
                  <a:pt x="1196159" y="5399169"/>
                </a:cubicBezTo>
                <a:cubicBezTo>
                  <a:pt x="1174396" y="5398516"/>
                  <a:pt x="1175280" y="5415282"/>
                  <a:pt x="1153748" y="5405093"/>
                </a:cubicBezTo>
                <a:cubicBezTo>
                  <a:pt x="1157267" y="5414115"/>
                  <a:pt x="1112247" y="5408398"/>
                  <a:pt x="1121874" y="5417803"/>
                </a:cubicBezTo>
                <a:cubicBezTo>
                  <a:pt x="1107293" y="5425943"/>
                  <a:pt x="1100911" y="5412406"/>
                  <a:pt x="1086481" y="5419474"/>
                </a:cubicBezTo>
                <a:cubicBezTo>
                  <a:pt x="1070504" y="5421068"/>
                  <a:pt x="1096054" y="5409890"/>
                  <a:pt x="1078485" y="5409150"/>
                </a:cubicBezTo>
                <a:cubicBezTo>
                  <a:pt x="1057107" y="5409880"/>
                  <a:pt x="1057916" y="5393370"/>
                  <a:pt x="1040550" y="5414415"/>
                </a:cubicBezTo>
                <a:cubicBezTo>
                  <a:pt x="1018445" y="5409298"/>
                  <a:pt x="1013694" y="5418764"/>
                  <a:pt x="982981" y="5423575"/>
                </a:cubicBezTo>
                <a:cubicBezTo>
                  <a:pt x="970423" y="5418342"/>
                  <a:pt x="960063" y="5420960"/>
                  <a:pt x="949836" y="5426093"/>
                </a:cubicBezTo>
                <a:cubicBezTo>
                  <a:pt x="920168" y="5424861"/>
                  <a:pt x="892764" y="5432710"/>
                  <a:pt x="859237" y="5435973"/>
                </a:cubicBezTo>
                <a:cubicBezTo>
                  <a:pt x="823344" y="5430160"/>
                  <a:pt x="804272" y="5444731"/>
                  <a:pt x="768445" y="5448159"/>
                </a:cubicBezTo>
                <a:cubicBezTo>
                  <a:pt x="733630" y="5434899"/>
                  <a:pt x="744432" y="5468566"/>
                  <a:pt x="714393" y="5468302"/>
                </a:cubicBezTo>
                <a:cubicBezTo>
                  <a:pt x="665910" y="5456640"/>
                  <a:pt x="715197" y="5479526"/>
                  <a:pt x="639791" y="5476924"/>
                </a:cubicBezTo>
                <a:cubicBezTo>
                  <a:pt x="635590" y="5474880"/>
                  <a:pt x="626375" y="5477333"/>
                  <a:pt x="627266" y="5480260"/>
                </a:cubicBezTo>
                <a:cubicBezTo>
                  <a:pt x="622501" y="5479477"/>
                  <a:pt x="611196" y="5474127"/>
                  <a:pt x="609977" y="5478891"/>
                </a:cubicBezTo>
                <a:cubicBezTo>
                  <a:pt x="585928" y="5480121"/>
                  <a:pt x="562064" y="5478026"/>
                  <a:pt x="540688" y="5472807"/>
                </a:cubicBezTo>
                <a:cubicBezTo>
                  <a:pt x="494260" y="5482226"/>
                  <a:pt x="519722" y="5459453"/>
                  <a:pt x="486194" y="5462661"/>
                </a:cubicBezTo>
                <a:cubicBezTo>
                  <a:pt x="459222" y="5472731"/>
                  <a:pt x="449283" y="5465413"/>
                  <a:pt x="418164" y="5472485"/>
                </a:cubicBezTo>
                <a:cubicBezTo>
                  <a:pt x="407504" y="5457469"/>
                  <a:pt x="388899" y="5474930"/>
                  <a:pt x="376724" y="5470967"/>
                </a:cubicBezTo>
                <a:cubicBezTo>
                  <a:pt x="357541" y="5489409"/>
                  <a:pt x="329120" y="5456071"/>
                  <a:pt x="308908" y="5457025"/>
                </a:cubicBezTo>
                <a:cubicBezTo>
                  <a:pt x="274916" y="5461376"/>
                  <a:pt x="238368" y="5480973"/>
                  <a:pt x="219416" y="5463995"/>
                </a:cubicBezTo>
                <a:cubicBezTo>
                  <a:pt x="217077" y="5471389"/>
                  <a:pt x="220429" y="5481203"/>
                  <a:pt x="200977" y="5480608"/>
                </a:cubicBezTo>
                <a:cubicBezTo>
                  <a:pt x="193315" y="5484612"/>
                  <a:pt x="192227" y="5495868"/>
                  <a:pt x="176226" y="5491022"/>
                </a:cubicBezTo>
                <a:cubicBezTo>
                  <a:pt x="195501" y="5480307"/>
                  <a:pt x="163065" y="5480325"/>
                  <a:pt x="165702" y="5468604"/>
                </a:cubicBezTo>
                <a:cubicBezTo>
                  <a:pt x="141228" y="5462364"/>
                  <a:pt x="86026" y="5474606"/>
                  <a:pt x="88282" y="5453658"/>
                </a:cubicBezTo>
                <a:cubicBezTo>
                  <a:pt x="80722" y="5441690"/>
                  <a:pt x="50300" y="5462007"/>
                  <a:pt x="49602" y="5448762"/>
                </a:cubicBezTo>
                <a:cubicBezTo>
                  <a:pt x="42967" y="5453333"/>
                  <a:pt x="33469" y="5452380"/>
                  <a:pt x="22844" y="5450459"/>
                </a:cubicBezTo>
                <a:lnTo>
                  <a:pt x="0" y="5447653"/>
                </a:lnTo>
                <a:close/>
              </a:path>
            </a:pathLst>
          </a:custGeom>
          <a:solidFill>
            <a:schemeClr val="bg1"/>
          </a:solidFill>
          <a:ln>
            <a:noFill/>
          </a:ln>
          <a:effectLst>
            <a:outerShdw blurRad="50800" dist="25400" dir="5400000" algn="t"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Freeform: Shape 18">
            <a:extLst>
              <a:ext uri="{FF2B5EF4-FFF2-40B4-BE49-F238E27FC236}">
                <a16:creationId xmlns:a16="http://schemas.microsoft.com/office/drawing/2014/main" id="{DCD6552F-C98B-4FBA-842F-3EF2D5ACA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099" y="585274"/>
            <a:ext cx="7036051" cy="5492212"/>
          </a:xfrm>
          <a:custGeom>
            <a:avLst/>
            <a:gdLst>
              <a:gd name="connsiteX0" fmla="*/ 0 w 7036051"/>
              <a:gd name="connsiteY0" fmla="*/ 0 h 5492212"/>
              <a:gd name="connsiteX1" fmla="*/ 7036051 w 7036051"/>
              <a:gd name="connsiteY1" fmla="*/ 0 h 5492212"/>
              <a:gd name="connsiteX2" fmla="*/ 7036051 w 7036051"/>
              <a:gd name="connsiteY2" fmla="*/ 5163846 h 5492212"/>
              <a:gd name="connsiteX3" fmla="*/ 7012593 w 7036051"/>
              <a:gd name="connsiteY3" fmla="*/ 5176898 h 5492212"/>
              <a:gd name="connsiteX4" fmla="*/ 6958601 w 7036051"/>
              <a:gd name="connsiteY4" fmla="*/ 5204359 h 5492212"/>
              <a:gd name="connsiteX5" fmla="*/ 6951226 w 7036051"/>
              <a:gd name="connsiteY5" fmla="*/ 5203241 h 5492212"/>
              <a:gd name="connsiteX6" fmla="*/ 6920864 w 7036051"/>
              <a:gd name="connsiteY6" fmla="*/ 5220003 h 5492212"/>
              <a:gd name="connsiteX7" fmla="*/ 6834841 w 7036051"/>
              <a:gd name="connsiteY7" fmla="*/ 5266115 h 5492212"/>
              <a:gd name="connsiteX8" fmla="*/ 6777937 w 7036051"/>
              <a:gd name="connsiteY8" fmla="*/ 5332502 h 5492212"/>
              <a:gd name="connsiteX9" fmla="*/ 6752874 w 7036051"/>
              <a:gd name="connsiteY9" fmla="*/ 5340428 h 5492212"/>
              <a:gd name="connsiteX10" fmla="*/ 6711115 w 7036051"/>
              <a:gd name="connsiteY10" fmla="*/ 5353924 h 5492212"/>
              <a:gd name="connsiteX11" fmla="*/ 6702149 w 7036051"/>
              <a:gd name="connsiteY11" fmla="*/ 5351500 h 5492212"/>
              <a:gd name="connsiteX12" fmla="*/ 6698458 w 7036051"/>
              <a:gd name="connsiteY12" fmla="*/ 5352743 h 5492212"/>
              <a:gd name="connsiteX13" fmla="*/ 6698049 w 7036051"/>
              <a:gd name="connsiteY13" fmla="*/ 5352570 h 5492212"/>
              <a:gd name="connsiteX14" fmla="*/ 6697297 w 7036051"/>
              <a:gd name="connsiteY14" fmla="*/ 5353134 h 5492212"/>
              <a:gd name="connsiteX15" fmla="*/ 6689118 w 7036051"/>
              <a:gd name="connsiteY15" fmla="*/ 5355890 h 5492212"/>
              <a:gd name="connsiteX16" fmla="*/ 6670605 w 7036051"/>
              <a:gd name="connsiteY16" fmla="*/ 5355427 h 5492212"/>
              <a:gd name="connsiteX17" fmla="*/ 6659606 w 7036051"/>
              <a:gd name="connsiteY17" fmla="*/ 5357084 h 5492212"/>
              <a:gd name="connsiteX18" fmla="*/ 6649636 w 7036051"/>
              <a:gd name="connsiteY18" fmla="*/ 5367869 h 5492212"/>
              <a:gd name="connsiteX19" fmla="*/ 6642159 w 7036051"/>
              <a:gd name="connsiteY19" fmla="*/ 5369506 h 5492212"/>
              <a:gd name="connsiteX20" fmla="*/ 6640764 w 7036051"/>
              <a:gd name="connsiteY20" fmla="*/ 5370991 h 5492212"/>
              <a:gd name="connsiteX21" fmla="*/ 6636665 w 7036051"/>
              <a:gd name="connsiteY21" fmla="*/ 5374002 h 5492212"/>
              <a:gd name="connsiteX22" fmla="*/ 6641287 w 7036051"/>
              <a:gd name="connsiteY22" fmla="*/ 5376181 h 5492212"/>
              <a:gd name="connsiteX23" fmla="*/ 6591018 w 7036051"/>
              <a:gd name="connsiteY23" fmla="*/ 5390981 h 5492212"/>
              <a:gd name="connsiteX24" fmla="*/ 6548326 w 7036051"/>
              <a:gd name="connsiteY24" fmla="*/ 5403583 h 5492212"/>
              <a:gd name="connsiteX25" fmla="*/ 6472868 w 7036051"/>
              <a:gd name="connsiteY25" fmla="*/ 5394733 h 5492212"/>
              <a:gd name="connsiteX26" fmla="*/ 6401194 w 7036051"/>
              <a:gd name="connsiteY26" fmla="*/ 5422870 h 5492212"/>
              <a:gd name="connsiteX27" fmla="*/ 6381961 w 7036051"/>
              <a:gd name="connsiteY27" fmla="*/ 5422940 h 5492212"/>
              <a:gd name="connsiteX28" fmla="*/ 6363834 w 7036051"/>
              <a:gd name="connsiteY28" fmla="*/ 5417751 h 5492212"/>
              <a:gd name="connsiteX29" fmla="*/ 6363997 w 7036051"/>
              <a:gd name="connsiteY29" fmla="*/ 5415912 h 5492212"/>
              <a:gd name="connsiteX30" fmla="*/ 6361124 w 7036051"/>
              <a:gd name="connsiteY30" fmla="*/ 5415066 h 5492212"/>
              <a:gd name="connsiteX31" fmla="*/ 6358507 w 7036051"/>
              <a:gd name="connsiteY31" fmla="*/ 5416224 h 5492212"/>
              <a:gd name="connsiteX32" fmla="*/ 6355073 w 7036051"/>
              <a:gd name="connsiteY32" fmla="*/ 5415242 h 5492212"/>
              <a:gd name="connsiteX33" fmla="*/ 6345676 w 7036051"/>
              <a:gd name="connsiteY33" fmla="*/ 5413049 h 5492212"/>
              <a:gd name="connsiteX34" fmla="*/ 6342596 w 7036051"/>
              <a:gd name="connsiteY34" fmla="*/ 5409297 h 5492212"/>
              <a:gd name="connsiteX35" fmla="*/ 6305742 w 7036051"/>
              <a:gd name="connsiteY35" fmla="*/ 5401622 h 5492212"/>
              <a:gd name="connsiteX36" fmla="*/ 6294445 w 7036051"/>
              <a:gd name="connsiteY36" fmla="*/ 5404149 h 5492212"/>
              <a:gd name="connsiteX37" fmla="*/ 6281414 w 7036051"/>
              <a:gd name="connsiteY37" fmla="*/ 5398024 h 5492212"/>
              <a:gd name="connsiteX38" fmla="*/ 6243972 w 7036051"/>
              <a:gd name="connsiteY38" fmla="*/ 5395807 h 5492212"/>
              <a:gd name="connsiteX39" fmla="*/ 6202379 w 7036051"/>
              <a:gd name="connsiteY39" fmla="*/ 5388661 h 5492212"/>
              <a:gd name="connsiteX40" fmla="*/ 6173010 w 7036051"/>
              <a:gd name="connsiteY40" fmla="*/ 5380606 h 5492212"/>
              <a:gd name="connsiteX41" fmla="*/ 6093421 w 7036051"/>
              <a:gd name="connsiteY41" fmla="*/ 5375473 h 5492212"/>
              <a:gd name="connsiteX42" fmla="*/ 5959474 w 7036051"/>
              <a:gd name="connsiteY42" fmla="*/ 5373386 h 5492212"/>
              <a:gd name="connsiteX43" fmla="*/ 5931492 w 7036051"/>
              <a:gd name="connsiteY43" fmla="*/ 5371513 h 5492212"/>
              <a:gd name="connsiteX44" fmla="*/ 5909558 w 7036051"/>
              <a:gd name="connsiteY44" fmla="*/ 5364228 h 5492212"/>
              <a:gd name="connsiteX45" fmla="*/ 5906319 w 7036051"/>
              <a:gd name="connsiteY45" fmla="*/ 5357590 h 5492212"/>
              <a:gd name="connsiteX46" fmla="*/ 5891268 w 7036051"/>
              <a:gd name="connsiteY46" fmla="*/ 5355650 h 5492212"/>
              <a:gd name="connsiteX47" fmla="*/ 5887711 w 7036051"/>
              <a:gd name="connsiteY47" fmla="*/ 5353947 h 5492212"/>
              <a:gd name="connsiteX48" fmla="*/ 5866852 w 7036051"/>
              <a:gd name="connsiteY48" fmla="*/ 5345374 h 5492212"/>
              <a:gd name="connsiteX49" fmla="*/ 5811310 w 7036051"/>
              <a:gd name="connsiteY49" fmla="*/ 5356530 h 5492212"/>
              <a:gd name="connsiteX50" fmla="*/ 5770689 w 7036051"/>
              <a:gd name="connsiteY50" fmla="*/ 5359014 h 5492212"/>
              <a:gd name="connsiteX51" fmla="*/ 5767719 w 7036051"/>
              <a:gd name="connsiteY51" fmla="*/ 5357260 h 5492212"/>
              <a:gd name="connsiteX52" fmla="*/ 5765688 w 7036051"/>
              <a:gd name="connsiteY52" fmla="*/ 5352793 h 5492212"/>
              <a:gd name="connsiteX53" fmla="*/ 5758598 w 7036051"/>
              <a:gd name="connsiteY53" fmla="*/ 5351053 h 5492212"/>
              <a:gd name="connsiteX54" fmla="*/ 5752036 w 7036051"/>
              <a:gd name="connsiteY54" fmla="*/ 5346019 h 5492212"/>
              <a:gd name="connsiteX55" fmla="*/ 5503590 w 7036051"/>
              <a:gd name="connsiteY55" fmla="*/ 5325537 h 5492212"/>
              <a:gd name="connsiteX56" fmla="*/ 5389848 w 7036051"/>
              <a:gd name="connsiteY56" fmla="*/ 5351472 h 5492212"/>
              <a:gd name="connsiteX57" fmla="*/ 5344450 w 7036051"/>
              <a:gd name="connsiteY57" fmla="*/ 5354840 h 5492212"/>
              <a:gd name="connsiteX58" fmla="*/ 5338428 w 7036051"/>
              <a:gd name="connsiteY58" fmla="*/ 5350516 h 5492212"/>
              <a:gd name="connsiteX59" fmla="*/ 5273489 w 7036051"/>
              <a:gd name="connsiteY59" fmla="*/ 5373945 h 5492212"/>
              <a:gd name="connsiteX60" fmla="*/ 5182701 w 7036051"/>
              <a:gd name="connsiteY60" fmla="*/ 5370075 h 5492212"/>
              <a:gd name="connsiteX61" fmla="*/ 5114856 w 7036051"/>
              <a:gd name="connsiteY61" fmla="*/ 5361037 h 5492212"/>
              <a:gd name="connsiteX62" fmla="*/ 5076532 w 7036051"/>
              <a:gd name="connsiteY62" fmla="*/ 5358612 h 5492212"/>
              <a:gd name="connsiteX63" fmla="*/ 5048954 w 7036051"/>
              <a:gd name="connsiteY63" fmla="*/ 5353915 h 5492212"/>
              <a:gd name="connsiteX64" fmla="*/ 4977087 w 7036051"/>
              <a:gd name="connsiteY64" fmla="*/ 5357736 h 5492212"/>
              <a:gd name="connsiteX65" fmla="*/ 4857261 w 7036051"/>
              <a:gd name="connsiteY65" fmla="*/ 5370659 h 5492212"/>
              <a:gd name="connsiteX66" fmla="*/ 4769845 w 7036051"/>
              <a:gd name="connsiteY66" fmla="*/ 5353264 h 5492212"/>
              <a:gd name="connsiteX67" fmla="*/ 4722220 w 7036051"/>
              <a:gd name="connsiteY67" fmla="*/ 5370534 h 5492212"/>
              <a:gd name="connsiteX68" fmla="*/ 4667552 w 7036051"/>
              <a:gd name="connsiteY68" fmla="*/ 5366753 h 5492212"/>
              <a:gd name="connsiteX69" fmla="*/ 4454472 w 7036051"/>
              <a:gd name="connsiteY69" fmla="*/ 5391442 h 5492212"/>
              <a:gd name="connsiteX70" fmla="*/ 4317219 w 7036051"/>
              <a:gd name="connsiteY70" fmla="*/ 5411554 h 5492212"/>
              <a:gd name="connsiteX71" fmla="*/ 4298346 w 7036051"/>
              <a:gd name="connsiteY71" fmla="*/ 5416146 h 5492212"/>
              <a:gd name="connsiteX72" fmla="*/ 4298228 w 7036051"/>
              <a:gd name="connsiteY72" fmla="*/ 5417983 h 5492212"/>
              <a:gd name="connsiteX73" fmla="*/ 4295233 w 7036051"/>
              <a:gd name="connsiteY73" fmla="*/ 5418735 h 5492212"/>
              <a:gd name="connsiteX74" fmla="*/ 4292799 w 7036051"/>
              <a:gd name="connsiteY74" fmla="*/ 5417494 h 5492212"/>
              <a:gd name="connsiteX75" fmla="*/ 4289225 w 7036051"/>
              <a:gd name="connsiteY75" fmla="*/ 5418364 h 5492212"/>
              <a:gd name="connsiteX76" fmla="*/ 4279515 w 7036051"/>
              <a:gd name="connsiteY76" fmla="*/ 5420247 h 5492212"/>
              <a:gd name="connsiteX77" fmla="*/ 4275872 w 7036051"/>
              <a:gd name="connsiteY77" fmla="*/ 5423890 h 5492212"/>
              <a:gd name="connsiteX78" fmla="*/ 4227055 w 7036051"/>
              <a:gd name="connsiteY78" fmla="*/ 5427466 h 5492212"/>
              <a:gd name="connsiteX79" fmla="*/ 4213123 w 7036051"/>
              <a:gd name="connsiteY79" fmla="*/ 5433155 h 5492212"/>
              <a:gd name="connsiteX80" fmla="*/ 4175436 w 7036051"/>
              <a:gd name="connsiteY80" fmla="*/ 5434156 h 5492212"/>
              <a:gd name="connsiteX81" fmla="*/ 4132856 w 7036051"/>
              <a:gd name="connsiteY81" fmla="*/ 5439937 h 5492212"/>
              <a:gd name="connsiteX82" fmla="*/ 4102333 w 7036051"/>
              <a:gd name="connsiteY82" fmla="*/ 5447021 h 5492212"/>
              <a:gd name="connsiteX83" fmla="*/ 4022159 w 7036051"/>
              <a:gd name="connsiteY83" fmla="*/ 5449566 h 5492212"/>
              <a:gd name="connsiteX84" fmla="*/ 3888224 w 7036051"/>
              <a:gd name="connsiteY84" fmla="*/ 5447312 h 5492212"/>
              <a:gd name="connsiteX85" fmla="*/ 3860026 w 7036051"/>
              <a:gd name="connsiteY85" fmla="*/ 5448274 h 5492212"/>
              <a:gd name="connsiteX86" fmla="*/ 3832796 w 7036051"/>
              <a:gd name="connsiteY86" fmla="*/ 5461349 h 5492212"/>
              <a:gd name="connsiteX87" fmla="*/ 3817485 w 7036051"/>
              <a:gd name="connsiteY87" fmla="*/ 5462797 h 5492212"/>
              <a:gd name="connsiteX88" fmla="*/ 3813676 w 7036051"/>
              <a:gd name="connsiteY88" fmla="*/ 5464379 h 5492212"/>
              <a:gd name="connsiteX89" fmla="*/ 3791563 w 7036051"/>
              <a:gd name="connsiteY89" fmla="*/ 5472259 h 5492212"/>
              <a:gd name="connsiteX90" fmla="*/ 3737858 w 7036051"/>
              <a:gd name="connsiteY90" fmla="*/ 5459331 h 5492212"/>
              <a:gd name="connsiteX91" fmla="*/ 3697716 w 7036051"/>
              <a:gd name="connsiteY91" fmla="*/ 5455539 h 5492212"/>
              <a:gd name="connsiteX92" fmla="*/ 3694487 w 7036051"/>
              <a:gd name="connsiteY92" fmla="*/ 5457193 h 5492212"/>
              <a:gd name="connsiteX93" fmla="*/ 3691779 w 7036051"/>
              <a:gd name="connsiteY93" fmla="*/ 5461582 h 5492212"/>
              <a:gd name="connsiteX94" fmla="*/ 3684442 w 7036051"/>
              <a:gd name="connsiteY94" fmla="*/ 5463086 h 5492212"/>
              <a:gd name="connsiteX95" fmla="*/ 3677129 w 7036051"/>
              <a:gd name="connsiteY95" fmla="*/ 5467898 h 5492212"/>
              <a:gd name="connsiteX96" fmla="*/ 3438897 w 7036051"/>
              <a:gd name="connsiteY96" fmla="*/ 5462195 h 5492212"/>
              <a:gd name="connsiteX97" fmla="*/ 3389756 w 7036051"/>
              <a:gd name="connsiteY97" fmla="*/ 5444428 h 5492212"/>
              <a:gd name="connsiteX98" fmla="*/ 3316666 w 7036051"/>
              <a:gd name="connsiteY98" fmla="*/ 5450736 h 5492212"/>
              <a:gd name="connsiteX99" fmla="*/ 3271894 w 7036051"/>
              <a:gd name="connsiteY99" fmla="*/ 5445907 h 5492212"/>
              <a:gd name="connsiteX100" fmla="*/ 3265228 w 7036051"/>
              <a:gd name="connsiteY100" fmla="*/ 5450024 h 5492212"/>
              <a:gd name="connsiteX101" fmla="*/ 3204017 w 7036051"/>
              <a:gd name="connsiteY101" fmla="*/ 5424552 h 5492212"/>
              <a:gd name="connsiteX102" fmla="*/ 3112867 w 7036051"/>
              <a:gd name="connsiteY102" fmla="*/ 5425473 h 5492212"/>
              <a:gd name="connsiteX103" fmla="*/ 3043809 w 7036051"/>
              <a:gd name="connsiteY103" fmla="*/ 5432293 h 5492212"/>
              <a:gd name="connsiteX104" fmla="*/ 3005211 w 7036051"/>
              <a:gd name="connsiteY104" fmla="*/ 5433472 h 5492212"/>
              <a:gd name="connsiteX105" fmla="*/ 2976986 w 7036051"/>
              <a:gd name="connsiteY105" fmla="*/ 5437264 h 5492212"/>
              <a:gd name="connsiteX106" fmla="*/ 2905879 w 7036051"/>
              <a:gd name="connsiteY106" fmla="*/ 5431128 h 5492212"/>
              <a:gd name="connsiteX107" fmla="*/ 2788318 w 7036051"/>
              <a:gd name="connsiteY107" fmla="*/ 5414358 h 5492212"/>
              <a:gd name="connsiteX108" fmla="*/ 2653590 w 7036051"/>
              <a:gd name="connsiteY108" fmla="*/ 5410111 h 5492212"/>
              <a:gd name="connsiteX109" fmla="*/ 2598481 w 7036051"/>
              <a:gd name="connsiteY109" fmla="*/ 5412114 h 5492212"/>
              <a:gd name="connsiteX110" fmla="*/ 2333897 w 7036051"/>
              <a:gd name="connsiteY110" fmla="*/ 5408505 h 5492212"/>
              <a:gd name="connsiteX111" fmla="*/ 2271841 w 7036051"/>
              <a:gd name="connsiteY111" fmla="*/ 5396433 h 5492212"/>
              <a:gd name="connsiteX112" fmla="*/ 2143705 w 7036051"/>
              <a:gd name="connsiteY112" fmla="*/ 5345095 h 5492212"/>
              <a:gd name="connsiteX113" fmla="*/ 1986408 w 7036051"/>
              <a:gd name="connsiteY113" fmla="*/ 5335524 h 5492212"/>
              <a:gd name="connsiteX114" fmla="*/ 1975333 w 7036051"/>
              <a:gd name="connsiteY114" fmla="*/ 5325099 h 5492212"/>
              <a:gd name="connsiteX115" fmla="*/ 1972441 w 7036051"/>
              <a:gd name="connsiteY115" fmla="*/ 5323775 h 5492212"/>
              <a:gd name="connsiteX116" fmla="*/ 1971497 w 7036051"/>
              <a:gd name="connsiteY116" fmla="*/ 5324412 h 5492212"/>
              <a:gd name="connsiteX117" fmla="*/ 1956886 w 7036051"/>
              <a:gd name="connsiteY117" fmla="*/ 5327069 h 5492212"/>
              <a:gd name="connsiteX118" fmla="*/ 1924833 w 7036051"/>
              <a:gd name="connsiteY118" fmla="*/ 5344911 h 5492212"/>
              <a:gd name="connsiteX119" fmla="*/ 1885856 w 7036051"/>
              <a:gd name="connsiteY119" fmla="*/ 5367299 h 5492212"/>
              <a:gd name="connsiteX120" fmla="*/ 1855937 w 7036051"/>
              <a:gd name="connsiteY120" fmla="*/ 5372820 h 5492212"/>
              <a:gd name="connsiteX121" fmla="*/ 1784500 w 7036051"/>
              <a:gd name="connsiteY121" fmla="*/ 5395926 h 5492212"/>
              <a:gd name="connsiteX122" fmla="*/ 1737998 w 7036051"/>
              <a:gd name="connsiteY122" fmla="*/ 5407426 h 5492212"/>
              <a:gd name="connsiteX123" fmla="*/ 1736716 w 7036051"/>
              <a:gd name="connsiteY123" fmla="*/ 5407939 h 5492212"/>
              <a:gd name="connsiteX124" fmla="*/ 1726742 w 7036051"/>
              <a:gd name="connsiteY124" fmla="*/ 5405934 h 5492212"/>
              <a:gd name="connsiteX125" fmla="*/ 1726849 w 7036051"/>
              <a:gd name="connsiteY125" fmla="*/ 5401221 h 5492212"/>
              <a:gd name="connsiteX126" fmla="*/ 1718134 w 7036051"/>
              <a:gd name="connsiteY126" fmla="*/ 5398128 h 5492212"/>
              <a:gd name="connsiteX127" fmla="*/ 1701063 w 7036051"/>
              <a:gd name="connsiteY127" fmla="*/ 5400545 h 5492212"/>
              <a:gd name="connsiteX128" fmla="*/ 1694634 w 7036051"/>
              <a:gd name="connsiteY128" fmla="*/ 5398728 h 5492212"/>
              <a:gd name="connsiteX129" fmla="*/ 1692270 w 7036051"/>
              <a:gd name="connsiteY129" fmla="*/ 5399053 h 5492212"/>
              <a:gd name="connsiteX130" fmla="*/ 1686657 w 7036051"/>
              <a:gd name="connsiteY130" fmla="*/ 5399247 h 5492212"/>
              <a:gd name="connsiteX131" fmla="*/ 1687479 w 7036051"/>
              <a:gd name="connsiteY131" fmla="*/ 5402165 h 5492212"/>
              <a:gd name="connsiteX132" fmla="*/ 1680969 w 7036051"/>
              <a:gd name="connsiteY132" fmla="*/ 5407963 h 5492212"/>
              <a:gd name="connsiteX133" fmla="*/ 1648682 w 7036051"/>
              <a:gd name="connsiteY133" fmla="*/ 5407558 h 5492212"/>
              <a:gd name="connsiteX134" fmla="*/ 1646819 w 7036051"/>
              <a:gd name="connsiteY134" fmla="*/ 5404306 h 5492212"/>
              <a:gd name="connsiteX135" fmla="*/ 1642743 w 7036051"/>
              <a:gd name="connsiteY135" fmla="*/ 5403927 h 5492212"/>
              <a:gd name="connsiteX136" fmla="*/ 1639788 w 7036051"/>
              <a:gd name="connsiteY136" fmla="*/ 5407135 h 5492212"/>
              <a:gd name="connsiteX137" fmla="*/ 1585803 w 7036051"/>
              <a:gd name="connsiteY137" fmla="*/ 5416574 h 5492212"/>
              <a:gd name="connsiteX138" fmla="*/ 1513331 w 7036051"/>
              <a:gd name="connsiteY138" fmla="*/ 5423805 h 5492212"/>
              <a:gd name="connsiteX139" fmla="*/ 1460734 w 7036051"/>
              <a:gd name="connsiteY139" fmla="*/ 5411778 h 5492212"/>
              <a:gd name="connsiteX140" fmla="*/ 1456045 w 7036051"/>
              <a:gd name="connsiteY140" fmla="*/ 5414928 h 5492212"/>
              <a:gd name="connsiteX141" fmla="*/ 1419653 w 7036051"/>
              <a:gd name="connsiteY141" fmla="*/ 5415060 h 5492212"/>
              <a:gd name="connsiteX142" fmla="*/ 1292605 w 7036051"/>
              <a:gd name="connsiteY142" fmla="*/ 5394671 h 5492212"/>
              <a:gd name="connsiteX143" fmla="*/ 1221477 w 7036051"/>
              <a:gd name="connsiteY143" fmla="*/ 5395509 h 5492212"/>
              <a:gd name="connsiteX144" fmla="*/ 1196159 w 7036051"/>
              <a:gd name="connsiteY144" fmla="*/ 5399169 h 5492212"/>
              <a:gd name="connsiteX145" fmla="*/ 1153748 w 7036051"/>
              <a:gd name="connsiteY145" fmla="*/ 5405093 h 5492212"/>
              <a:gd name="connsiteX146" fmla="*/ 1121874 w 7036051"/>
              <a:gd name="connsiteY146" fmla="*/ 5417803 h 5492212"/>
              <a:gd name="connsiteX147" fmla="*/ 1086481 w 7036051"/>
              <a:gd name="connsiteY147" fmla="*/ 5419474 h 5492212"/>
              <a:gd name="connsiteX148" fmla="*/ 1078485 w 7036051"/>
              <a:gd name="connsiteY148" fmla="*/ 5409150 h 5492212"/>
              <a:gd name="connsiteX149" fmla="*/ 1040550 w 7036051"/>
              <a:gd name="connsiteY149" fmla="*/ 5414415 h 5492212"/>
              <a:gd name="connsiteX150" fmla="*/ 982981 w 7036051"/>
              <a:gd name="connsiteY150" fmla="*/ 5423575 h 5492212"/>
              <a:gd name="connsiteX151" fmla="*/ 949836 w 7036051"/>
              <a:gd name="connsiteY151" fmla="*/ 5426093 h 5492212"/>
              <a:gd name="connsiteX152" fmla="*/ 859237 w 7036051"/>
              <a:gd name="connsiteY152" fmla="*/ 5435973 h 5492212"/>
              <a:gd name="connsiteX153" fmla="*/ 768445 w 7036051"/>
              <a:gd name="connsiteY153" fmla="*/ 5448159 h 5492212"/>
              <a:gd name="connsiteX154" fmla="*/ 714393 w 7036051"/>
              <a:gd name="connsiteY154" fmla="*/ 5468302 h 5492212"/>
              <a:gd name="connsiteX155" fmla="*/ 639791 w 7036051"/>
              <a:gd name="connsiteY155" fmla="*/ 5476924 h 5492212"/>
              <a:gd name="connsiteX156" fmla="*/ 627266 w 7036051"/>
              <a:gd name="connsiteY156" fmla="*/ 5480260 h 5492212"/>
              <a:gd name="connsiteX157" fmla="*/ 609977 w 7036051"/>
              <a:gd name="connsiteY157" fmla="*/ 5478891 h 5492212"/>
              <a:gd name="connsiteX158" fmla="*/ 540688 w 7036051"/>
              <a:gd name="connsiteY158" fmla="*/ 5472807 h 5492212"/>
              <a:gd name="connsiteX159" fmla="*/ 486194 w 7036051"/>
              <a:gd name="connsiteY159" fmla="*/ 5462661 h 5492212"/>
              <a:gd name="connsiteX160" fmla="*/ 418164 w 7036051"/>
              <a:gd name="connsiteY160" fmla="*/ 5472485 h 5492212"/>
              <a:gd name="connsiteX161" fmla="*/ 376724 w 7036051"/>
              <a:gd name="connsiteY161" fmla="*/ 5470967 h 5492212"/>
              <a:gd name="connsiteX162" fmla="*/ 308908 w 7036051"/>
              <a:gd name="connsiteY162" fmla="*/ 5457025 h 5492212"/>
              <a:gd name="connsiteX163" fmla="*/ 219416 w 7036051"/>
              <a:gd name="connsiteY163" fmla="*/ 5463995 h 5492212"/>
              <a:gd name="connsiteX164" fmla="*/ 200977 w 7036051"/>
              <a:gd name="connsiteY164" fmla="*/ 5480608 h 5492212"/>
              <a:gd name="connsiteX165" fmla="*/ 176226 w 7036051"/>
              <a:gd name="connsiteY165" fmla="*/ 5491022 h 5492212"/>
              <a:gd name="connsiteX166" fmla="*/ 165702 w 7036051"/>
              <a:gd name="connsiteY166" fmla="*/ 5468604 h 5492212"/>
              <a:gd name="connsiteX167" fmla="*/ 88282 w 7036051"/>
              <a:gd name="connsiteY167" fmla="*/ 5453658 h 5492212"/>
              <a:gd name="connsiteX168" fmla="*/ 49602 w 7036051"/>
              <a:gd name="connsiteY168" fmla="*/ 5448762 h 5492212"/>
              <a:gd name="connsiteX169" fmla="*/ 22844 w 7036051"/>
              <a:gd name="connsiteY169" fmla="*/ 5450459 h 5492212"/>
              <a:gd name="connsiteX170" fmla="*/ 0 w 7036051"/>
              <a:gd name="connsiteY170" fmla="*/ 5447653 h 5492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Lst>
            <a:rect l="l" t="t" r="r" b="b"/>
            <a:pathLst>
              <a:path w="7036051" h="5492212">
                <a:moveTo>
                  <a:pt x="0" y="0"/>
                </a:moveTo>
                <a:lnTo>
                  <a:pt x="7036051" y="0"/>
                </a:lnTo>
                <a:lnTo>
                  <a:pt x="7036051" y="5163846"/>
                </a:lnTo>
                <a:lnTo>
                  <a:pt x="7012593" y="5176898"/>
                </a:lnTo>
                <a:cubicBezTo>
                  <a:pt x="7010768" y="5193373"/>
                  <a:pt x="6968133" y="5178026"/>
                  <a:pt x="6958601" y="5204359"/>
                </a:cubicBezTo>
                <a:cubicBezTo>
                  <a:pt x="6956255" y="5203750"/>
                  <a:pt x="6953771" y="5203373"/>
                  <a:pt x="6951226" y="5203241"/>
                </a:cubicBezTo>
                <a:cubicBezTo>
                  <a:pt x="6936441" y="5202478"/>
                  <a:pt x="6922846" y="5209982"/>
                  <a:pt x="6920864" y="5220003"/>
                </a:cubicBezTo>
                <a:cubicBezTo>
                  <a:pt x="6902003" y="5258795"/>
                  <a:pt x="6863469" y="5243876"/>
                  <a:pt x="6834841" y="5266115"/>
                </a:cubicBezTo>
                <a:cubicBezTo>
                  <a:pt x="6800315" y="5289373"/>
                  <a:pt x="6805780" y="5289922"/>
                  <a:pt x="6777937" y="5332502"/>
                </a:cubicBezTo>
                <a:cubicBezTo>
                  <a:pt x="6765321" y="5328518"/>
                  <a:pt x="6759096" y="5331534"/>
                  <a:pt x="6752874" y="5340428"/>
                </a:cubicBezTo>
                <a:cubicBezTo>
                  <a:pt x="6735526" y="5351218"/>
                  <a:pt x="6717730" y="5333264"/>
                  <a:pt x="6711115" y="5353924"/>
                </a:cubicBezTo>
                <a:cubicBezTo>
                  <a:pt x="6709352" y="5351156"/>
                  <a:pt x="6706090" y="5350761"/>
                  <a:pt x="6702149" y="5351500"/>
                </a:cubicBezTo>
                <a:lnTo>
                  <a:pt x="6698458" y="5352743"/>
                </a:lnTo>
                <a:lnTo>
                  <a:pt x="6698049" y="5352570"/>
                </a:lnTo>
                <a:lnTo>
                  <a:pt x="6697297" y="5353134"/>
                </a:lnTo>
                <a:lnTo>
                  <a:pt x="6689118" y="5355890"/>
                </a:lnTo>
                <a:cubicBezTo>
                  <a:pt x="6680171" y="5359440"/>
                  <a:pt x="6671805" y="5362584"/>
                  <a:pt x="6670605" y="5355427"/>
                </a:cubicBezTo>
                <a:cubicBezTo>
                  <a:pt x="6665330" y="5354991"/>
                  <a:pt x="6661976" y="5355734"/>
                  <a:pt x="6659606" y="5357084"/>
                </a:cubicBezTo>
                <a:cubicBezTo>
                  <a:pt x="6654864" y="5359782"/>
                  <a:pt x="6654050" y="5364908"/>
                  <a:pt x="6649636" y="5367869"/>
                </a:cubicBezTo>
                <a:lnTo>
                  <a:pt x="6642159" y="5369506"/>
                </a:lnTo>
                <a:lnTo>
                  <a:pt x="6640764" y="5370991"/>
                </a:lnTo>
                <a:lnTo>
                  <a:pt x="6636665" y="5374002"/>
                </a:lnTo>
                <a:lnTo>
                  <a:pt x="6641287" y="5376181"/>
                </a:lnTo>
                <a:cubicBezTo>
                  <a:pt x="6646080" y="5377976"/>
                  <a:pt x="6597903" y="5386514"/>
                  <a:pt x="6591018" y="5390981"/>
                </a:cubicBezTo>
                <a:lnTo>
                  <a:pt x="6548326" y="5403583"/>
                </a:lnTo>
                <a:lnTo>
                  <a:pt x="6472868" y="5394733"/>
                </a:lnTo>
                <a:cubicBezTo>
                  <a:pt x="6457699" y="5415896"/>
                  <a:pt x="6417760" y="5410703"/>
                  <a:pt x="6401194" y="5422870"/>
                </a:cubicBezTo>
                <a:lnTo>
                  <a:pt x="6381961" y="5422940"/>
                </a:lnTo>
                <a:lnTo>
                  <a:pt x="6363834" y="5417751"/>
                </a:lnTo>
                <a:lnTo>
                  <a:pt x="6363997" y="5415912"/>
                </a:lnTo>
                <a:cubicBezTo>
                  <a:pt x="6363602" y="5414702"/>
                  <a:pt x="6362617" y="5414594"/>
                  <a:pt x="6361124" y="5415066"/>
                </a:cubicBezTo>
                <a:lnTo>
                  <a:pt x="6358507" y="5416224"/>
                </a:lnTo>
                <a:lnTo>
                  <a:pt x="6355073" y="5415242"/>
                </a:lnTo>
                <a:lnTo>
                  <a:pt x="6345676" y="5413049"/>
                </a:lnTo>
                <a:lnTo>
                  <a:pt x="6342596" y="5409297"/>
                </a:lnTo>
                <a:cubicBezTo>
                  <a:pt x="6333502" y="5403420"/>
                  <a:pt x="6312379" y="5410664"/>
                  <a:pt x="6305742" y="5401622"/>
                </a:cubicBezTo>
                <a:lnTo>
                  <a:pt x="6294445" y="5404149"/>
                </a:lnTo>
                <a:lnTo>
                  <a:pt x="6281414" y="5398024"/>
                </a:lnTo>
                <a:cubicBezTo>
                  <a:pt x="6269392" y="5392983"/>
                  <a:pt x="6257013" y="5390092"/>
                  <a:pt x="6243972" y="5395807"/>
                </a:cubicBezTo>
                <a:cubicBezTo>
                  <a:pt x="6248312" y="5382942"/>
                  <a:pt x="6211634" y="5399629"/>
                  <a:pt x="6202379" y="5388661"/>
                </a:cubicBezTo>
                <a:cubicBezTo>
                  <a:pt x="6196568" y="5379556"/>
                  <a:pt x="6184084" y="5382499"/>
                  <a:pt x="6173010" y="5380606"/>
                </a:cubicBezTo>
                <a:cubicBezTo>
                  <a:pt x="6162384" y="5372079"/>
                  <a:pt x="6109972" y="5371285"/>
                  <a:pt x="6093421" y="5375473"/>
                </a:cubicBezTo>
                <a:cubicBezTo>
                  <a:pt x="6048943" y="5392971"/>
                  <a:pt x="5995413" y="5360396"/>
                  <a:pt x="5959474" y="5373386"/>
                </a:cubicBezTo>
                <a:cubicBezTo>
                  <a:pt x="5949048" y="5374123"/>
                  <a:pt x="5939860" y="5373301"/>
                  <a:pt x="5931492" y="5371513"/>
                </a:cubicBezTo>
                <a:lnTo>
                  <a:pt x="5909558" y="5364228"/>
                </a:lnTo>
                <a:lnTo>
                  <a:pt x="5906319" y="5357590"/>
                </a:lnTo>
                <a:lnTo>
                  <a:pt x="5891268" y="5355650"/>
                </a:lnTo>
                <a:lnTo>
                  <a:pt x="5887711" y="5353947"/>
                </a:lnTo>
                <a:cubicBezTo>
                  <a:pt x="5880924" y="5350671"/>
                  <a:pt x="5874113" y="5347614"/>
                  <a:pt x="5866852" y="5345374"/>
                </a:cubicBezTo>
                <a:cubicBezTo>
                  <a:pt x="5859911" y="5373405"/>
                  <a:pt x="5803959" y="5330929"/>
                  <a:pt x="5811310" y="5356530"/>
                </a:cubicBezTo>
                <a:cubicBezTo>
                  <a:pt x="5780489" y="5350949"/>
                  <a:pt x="5782784" y="5364359"/>
                  <a:pt x="5770689" y="5359014"/>
                </a:cubicBezTo>
                <a:lnTo>
                  <a:pt x="5767719" y="5357260"/>
                </a:lnTo>
                <a:lnTo>
                  <a:pt x="5765688" y="5352793"/>
                </a:lnTo>
                <a:lnTo>
                  <a:pt x="5758598" y="5351053"/>
                </a:lnTo>
                <a:lnTo>
                  <a:pt x="5752036" y="5346019"/>
                </a:lnTo>
                <a:cubicBezTo>
                  <a:pt x="5676031" y="5353035"/>
                  <a:pt x="5573285" y="5304575"/>
                  <a:pt x="5503590" y="5325537"/>
                </a:cubicBezTo>
                <a:lnTo>
                  <a:pt x="5389848" y="5351472"/>
                </a:lnTo>
                <a:cubicBezTo>
                  <a:pt x="5378275" y="5360535"/>
                  <a:pt x="5357949" y="5362044"/>
                  <a:pt x="5344450" y="5354840"/>
                </a:cubicBezTo>
                <a:cubicBezTo>
                  <a:pt x="5342129" y="5353601"/>
                  <a:pt x="5340101" y="5352144"/>
                  <a:pt x="5338428" y="5350516"/>
                </a:cubicBezTo>
                <a:cubicBezTo>
                  <a:pt x="5303858" y="5372450"/>
                  <a:pt x="5291134" y="5358414"/>
                  <a:pt x="5273489" y="5373945"/>
                </a:cubicBezTo>
                <a:cubicBezTo>
                  <a:pt x="5228455" y="5376430"/>
                  <a:pt x="5198895" y="5356533"/>
                  <a:pt x="5182701" y="5370075"/>
                </a:cubicBezTo>
                <a:cubicBezTo>
                  <a:pt x="5161004" y="5366959"/>
                  <a:pt x="5136154" y="5346791"/>
                  <a:pt x="5114856" y="5361037"/>
                </a:cubicBezTo>
                <a:cubicBezTo>
                  <a:pt x="5116518" y="5347803"/>
                  <a:pt x="5086668" y="5368445"/>
                  <a:pt x="5076532" y="5358612"/>
                </a:cubicBezTo>
                <a:cubicBezTo>
                  <a:pt x="5069788" y="5350240"/>
                  <a:pt x="5059157" y="5354551"/>
                  <a:pt x="5048954" y="5353915"/>
                </a:cubicBezTo>
                <a:cubicBezTo>
                  <a:pt x="5038015" y="5346654"/>
                  <a:pt x="4991132" y="5351733"/>
                  <a:pt x="4977087" y="5357736"/>
                </a:cubicBezTo>
                <a:cubicBezTo>
                  <a:pt x="4940420" y="5380054"/>
                  <a:pt x="4887089" y="5353763"/>
                  <a:pt x="4857261" y="5370659"/>
                </a:cubicBezTo>
                <a:cubicBezTo>
                  <a:pt x="4820568" y="5378246"/>
                  <a:pt x="4797284" y="5358899"/>
                  <a:pt x="4769845" y="5353264"/>
                </a:cubicBezTo>
                <a:cubicBezTo>
                  <a:pt x="4768462" y="5381819"/>
                  <a:pt x="4711275" y="5345988"/>
                  <a:pt x="4722220" y="5370534"/>
                </a:cubicBezTo>
                <a:cubicBezTo>
                  <a:pt x="4684293" y="5367762"/>
                  <a:pt x="4704662" y="5391854"/>
                  <a:pt x="4667552" y="5366753"/>
                </a:cubicBezTo>
                <a:cubicBezTo>
                  <a:pt x="4600967" y="5382212"/>
                  <a:pt x="4513038" y="5362869"/>
                  <a:pt x="4454472" y="5391442"/>
                </a:cubicBezTo>
                <a:lnTo>
                  <a:pt x="4317219" y="5411554"/>
                </a:lnTo>
                <a:lnTo>
                  <a:pt x="4298346" y="5416146"/>
                </a:lnTo>
                <a:cubicBezTo>
                  <a:pt x="4298306" y="5416758"/>
                  <a:pt x="4298267" y="5417371"/>
                  <a:pt x="4298228" y="5417983"/>
                </a:cubicBezTo>
                <a:cubicBezTo>
                  <a:pt x="4297649" y="5419178"/>
                  <a:pt x="4296651" y="5419253"/>
                  <a:pt x="4295233" y="5418735"/>
                </a:cubicBezTo>
                <a:lnTo>
                  <a:pt x="4292799" y="5417494"/>
                </a:lnTo>
                <a:lnTo>
                  <a:pt x="4289225" y="5418364"/>
                </a:lnTo>
                <a:lnTo>
                  <a:pt x="4279515" y="5420247"/>
                </a:lnTo>
                <a:lnTo>
                  <a:pt x="4275872" y="5423890"/>
                </a:lnTo>
                <a:lnTo>
                  <a:pt x="4227055" y="5427466"/>
                </a:lnTo>
                <a:lnTo>
                  <a:pt x="4213123" y="5433155"/>
                </a:lnTo>
                <a:cubicBezTo>
                  <a:pt x="4200364" y="5437794"/>
                  <a:pt x="4187574" y="5440279"/>
                  <a:pt x="4175436" y="5434156"/>
                </a:cubicBezTo>
                <a:cubicBezTo>
                  <a:pt x="4177805" y="5447129"/>
                  <a:pt x="4143760" y="5429295"/>
                  <a:pt x="4132856" y="5439937"/>
                </a:cubicBezTo>
                <a:cubicBezTo>
                  <a:pt x="4125673" y="5448831"/>
                  <a:pt x="4113669" y="5445492"/>
                  <a:pt x="4102333" y="5447021"/>
                </a:cubicBezTo>
                <a:cubicBezTo>
                  <a:pt x="4090434" y="5455185"/>
                  <a:pt x="4038031" y="5454280"/>
                  <a:pt x="4022159" y="5449566"/>
                </a:cubicBezTo>
                <a:cubicBezTo>
                  <a:pt x="3980455" y="5430671"/>
                  <a:pt x="3922096" y="5461433"/>
                  <a:pt x="3888224" y="5447312"/>
                </a:cubicBezTo>
                <a:cubicBezTo>
                  <a:pt x="3877937" y="5446239"/>
                  <a:pt x="3868647" y="5446763"/>
                  <a:pt x="3860026" y="5448274"/>
                </a:cubicBezTo>
                <a:lnTo>
                  <a:pt x="3832796" y="5461349"/>
                </a:lnTo>
                <a:lnTo>
                  <a:pt x="3817485" y="5462797"/>
                </a:lnTo>
                <a:lnTo>
                  <a:pt x="3813676" y="5464379"/>
                </a:lnTo>
                <a:cubicBezTo>
                  <a:pt x="3806407" y="5467429"/>
                  <a:pt x="3799147" y="5470257"/>
                  <a:pt x="3791563" y="5472259"/>
                </a:cubicBezTo>
                <a:cubicBezTo>
                  <a:pt x="3788910" y="5444072"/>
                  <a:pt x="3726624" y="5484631"/>
                  <a:pt x="3737858" y="5459331"/>
                </a:cubicBezTo>
                <a:cubicBezTo>
                  <a:pt x="3706262" y="5463900"/>
                  <a:pt x="3710598" y="5450598"/>
                  <a:pt x="3697716" y="5455539"/>
                </a:cubicBezTo>
                <a:lnTo>
                  <a:pt x="3694487" y="5457193"/>
                </a:lnTo>
                <a:lnTo>
                  <a:pt x="3691779" y="5461582"/>
                </a:lnTo>
                <a:lnTo>
                  <a:pt x="3684442" y="5463086"/>
                </a:lnTo>
                <a:lnTo>
                  <a:pt x="3677129" y="5467898"/>
                </a:lnTo>
                <a:cubicBezTo>
                  <a:pt x="3602381" y="5458439"/>
                  <a:pt x="3505226" y="5485361"/>
                  <a:pt x="3438897" y="5462195"/>
                </a:cubicBezTo>
                <a:lnTo>
                  <a:pt x="3389756" y="5444428"/>
                </a:lnTo>
                <a:cubicBezTo>
                  <a:pt x="3364455" y="5437704"/>
                  <a:pt x="3342081" y="5466704"/>
                  <a:pt x="3316666" y="5450736"/>
                </a:cubicBezTo>
                <a:cubicBezTo>
                  <a:pt x="3306503" y="5441319"/>
                  <a:pt x="3286457" y="5439158"/>
                  <a:pt x="3271894" y="5445907"/>
                </a:cubicBezTo>
                <a:cubicBezTo>
                  <a:pt x="3269388" y="5447068"/>
                  <a:pt x="3267143" y="5448455"/>
                  <a:pt x="3265228" y="5450024"/>
                </a:cubicBezTo>
                <a:cubicBezTo>
                  <a:pt x="3234084" y="5427025"/>
                  <a:pt x="3219254" y="5440615"/>
                  <a:pt x="3204017" y="5424552"/>
                </a:cubicBezTo>
                <a:cubicBezTo>
                  <a:pt x="3159473" y="5420614"/>
                  <a:pt x="3126956" y="5439505"/>
                  <a:pt x="3112867" y="5425473"/>
                </a:cubicBezTo>
                <a:cubicBezTo>
                  <a:pt x="3090747" y="5427880"/>
                  <a:pt x="3062886" y="5447193"/>
                  <a:pt x="3043809" y="5432293"/>
                </a:cubicBezTo>
                <a:cubicBezTo>
                  <a:pt x="3043452" y="5445549"/>
                  <a:pt x="3016821" y="5423991"/>
                  <a:pt x="3005211" y="5433472"/>
                </a:cubicBezTo>
                <a:cubicBezTo>
                  <a:pt x="2997207" y="5441605"/>
                  <a:pt x="2987260" y="5436961"/>
                  <a:pt x="2976986" y="5437264"/>
                </a:cubicBezTo>
                <a:cubicBezTo>
                  <a:pt x="2964968" y="5444153"/>
                  <a:pt x="2918975" y="5437570"/>
                  <a:pt x="2905879" y="5431128"/>
                </a:cubicBezTo>
                <a:cubicBezTo>
                  <a:pt x="2872703" y="5407678"/>
                  <a:pt x="2815496" y="5432178"/>
                  <a:pt x="2788318" y="5414358"/>
                </a:cubicBezTo>
                <a:cubicBezTo>
                  <a:pt x="2746271" y="5410854"/>
                  <a:pt x="2685231" y="5410484"/>
                  <a:pt x="2653590" y="5410111"/>
                </a:cubicBezTo>
                <a:cubicBezTo>
                  <a:pt x="2615334" y="5411650"/>
                  <a:pt x="2639324" y="5388277"/>
                  <a:pt x="2598481" y="5412114"/>
                </a:cubicBezTo>
                <a:cubicBezTo>
                  <a:pt x="2534415" y="5394537"/>
                  <a:pt x="2387966" y="5438902"/>
                  <a:pt x="2333897" y="5408505"/>
                </a:cubicBezTo>
                <a:cubicBezTo>
                  <a:pt x="2279458" y="5405891"/>
                  <a:pt x="2312839" y="5402348"/>
                  <a:pt x="2271841" y="5396433"/>
                </a:cubicBezTo>
                <a:cubicBezTo>
                  <a:pt x="2263465" y="5363868"/>
                  <a:pt x="2168184" y="5361433"/>
                  <a:pt x="2143705" y="5345095"/>
                </a:cubicBezTo>
                <a:cubicBezTo>
                  <a:pt x="2087043" y="5343333"/>
                  <a:pt x="2041689" y="5319742"/>
                  <a:pt x="1986408" y="5335524"/>
                </a:cubicBezTo>
                <a:cubicBezTo>
                  <a:pt x="1983594" y="5331315"/>
                  <a:pt x="1979798" y="5327915"/>
                  <a:pt x="1975333" y="5325099"/>
                </a:cubicBezTo>
                <a:lnTo>
                  <a:pt x="1972441" y="5323775"/>
                </a:lnTo>
                <a:lnTo>
                  <a:pt x="1971497" y="5324412"/>
                </a:lnTo>
                <a:cubicBezTo>
                  <a:pt x="1967825" y="5325937"/>
                  <a:pt x="1963255" y="5326871"/>
                  <a:pt x="1956886" y="5327069"/>
                </a:cubicBezTo>
                <a:cubicBezTo>
                  <a:pt x="1957692" y="5357103"/>
                  <a:pt x="1944755" y="5337483"/>
                  <a:pt x="1924833" y="5344911"/>
                </a:cubicBezTo>
                <a:cubicBezTo>
                  <a:pt x="1907350" y="5349449"/>
                  <a:pt x="1899872" y="5360515"/>
                  <a:pt x="1885856" y="5367299"/>
                </a:cubicBezTo>
                <a:cubicBezTo>
                  <a:pt x="1874373" y="5371950"/>
                  <a:pt x="1870677" y="5363227"/>
                  <a:pt x="1855937" y="5372820"/>
                </a:cubicBezTo>
                <a:cubicBezTo>
                  <a:pt x="1826799" y="5367486"/>
                  <a:pt x="1805938" y="5389998"/>
                  <a:pt x="1784500" y="5395926"/>
                </a:cubicBezTo>
                <a:cubicBezTo>
                  <a:pt x="1777473" y="5395836"/>
                  <a:pt x="1756895" y="5401012"/>
                  <a:pt x="1737998" y="5407426"/>
                </a:cubicBezTo>
                <a:lnTo>
                  <a:pt x="1736716" y="5407939"/>
                </a:lnTo>
                <a:lnTo>
                  <a:pt x="1726742" y="5405934"/>
                </a:lnTo>
                <a:cubicBezTo>
                  <a:pt x="1724249" y="5404894"/>
                  <a:pt x="1723700" y="5403454"/>
                  <a:pt x="1726849" y="5401221"/>
                </a:cubicBezTo>
                <a:cubicBezTo>
                  <a:pt x="1723886" y="5399045"/>
                  <a:pt x="1720993" y="5398236"/>
                  <a:pt x="1718134" y="5398128"/>
                </a:cubicBezTo>
                <a:cubicBezTo>
                  <a:pt x="1712416" y="5397910"/>
                  <a:pt x="1706830" y="5400494"/>
                  <a:pt x="1701063" y="5400545"/>
                </a:cubicBezTo>
                <a:lnTo>
                  <a:pt x="1694634" y="5398728"/>
                </a:lnTo>
                <a:lnTo>
                  <a:pt x="1692270" y="5399053"/>
                </a:lnTo>
                <a:lnTo>
                  <a:pt x="1686657" y="5399247"/>
                </a:lnTo>
                <a:lnTo>
                  <a:pt x="1687479" y="5402165"/>
                </a:lnTo>
                <a:cubicBezTo>
                  <a:pt x="1688791" y="5404927"/>
                  <a:pt x="1689812" y="5407972"/>
                  <a:pt x="1680969" y="5407963"/>
                </a:cubicBezTo>
                <a:cubicBezTo>
                  <a:pt x="1662599" y="5406532"/>
                  <a:pt x="1656841" y="5418932"/>
                  <a:pt x="1648682" y="5407558"/>
                </a:cubicBezTo>
                <a:lnTo>
                  <a:pt x="1646819" y="5404306"/>
                </a:lnTo>
                <a:lnTo>
                  <a:pt x="1642743" y="5403927"/>
                </a:lnTo>
                <a:cubicBezTo>
                  <a:pt x="1640569" y="5404120"/>
                  <a:pt x="1639361" y="5404983"/>
                  <a:pt x="1639788" y="5407135"/>
                </a:cubicBezTo>
                <a:cubicBezTo>
                  <a:pt x="1622347" y="5398881"/>
                  <a:pt x="1603063" y="5413406"/>
                  <a:pt x="1585803" y="5416574"/>
                </a:cubicBezTo>
                <a:cubicBezTo>
                  <a:pt x="1572467" y="5408520"/>
                  <a:pt x="1549407" y="5423110"/>
                  <a:pt x="1513331" y="5423805"/>
                </a:cubicBezTo>
                <a:cubicBezTo>
                  <a:pt x="1498774" y="5414520"/>
                  <a:pt x="1489007" y="5424393"/>
                  <a:pt x="1460734" y="5411778"/>
                </a:cubicBezTo>
                <a:cubicBezTo>
                  <a:pt x="1459446" y="5412932"/>
                  <a:pt x="1457867" y="5413992"/>
                  <a:pt x="1456045" y="5414928"/>
                </a:cubicBezTo>
                <a:cubicBezTo>
                  <a:pt x="1445460" y="5420354"/>
                  <a:pt x="1429166" y="5420415"/>
                  <a:pt x="1419653" y="5415060"/>
                </a:cubicBezTo>
                <a:cubicBezTo>
                  <a:pt x="1374353" y="5398095"/>
                  <a:pt x="1332064" y="5398411"/>
                  <a:pt x="1292605" y="5394671"/>
                </a:cubicBezTo>
                <a:cubicBezTo>
                  <a:pt x="1247867" y="5392301"/>
                  <a:pt x="1276603" y="5411730"/>
                  <a:pt x="1221477" y="5395509"/>
                </a:cubicBezTo>
                <a:cubicBezTo>
                  <a:pt x="1215107" y="5402140"/>
                  <a:pt x="1207983" y="5402421"/>
                  <a:pt x="1196159" y="5399169"/>
                </a:cubicBezTo>
                <a:cubicBezTo>
                  <a:pt x="1174396" y="5398516"/>
                  <a:pt x="1175280" y="5415282"/>
                  <a:pt x="1153748" y="5405093"/>
                </a:cubicBezTo>
                <a:cubicBezTo>
                  <a:pt x="1157267" y="5414115"/>
                  <a:pt x="1112247" y="5408398"/>
                  <a:pt x="1121874" y="5417803"/>
                </a:cubicBezTo>
                <a:cubicBezTo>
                  <a:pt x="1107293" y="5425943"/>
                  <a:pt x="1100911" y="5412406"/>
                  <a:pt x="1086481" y="5419474"/>
                </a:cubicBezTo>
                <a:cubicBezTo>
                  <a:pt x="1070504" y="5421068"/>
                  <a:pt x="1096054" y="5409890"/>
                  <a:pt x="1078485" y="5409150"/>
                </a:cubicBezTo>
                <a:cubicBezTo>
                  <a:pt x="1057107" y="5409880"/>
                  <a:pt x="1057916" y="5393370"/>
                  <a:pt x="1040550" y="5414415"/>
                </a:cubicBezTo>
                <a:cubicBezTo>
                  <a:pt x="1018445" y="5409298"/>
                  <a:pt x="1013694" y="5418764"/>
                  <a:pt x="982981" y="5423575"/>
                </a:cubicBezTo>
                <a:cubicBezTo>
                  <a:pt x="970423" y="5418342"/>
                  <a:pt x="960063" y="5420960"/>
                  <a:pt x="949836" y="5426093"/>
                </a:cubicBezTo>
                <a:cubicBezTo>
                  <a:pt x="920168" y="5424861"/>
                  <a:pt x="892764" y="5432710"/>
                  <a:pt x="859237" y="5435973"/>
                </a:cubicBezTo>
                <a:cubicBezTo>
                  <a:pt x="823344" y="5430160"/>
                  <a:pt x="804272" y="5444731"/>
                  <a:pt x="768445" y="5448159"/>
                </a:cubicBezTo>
                <a:cubicBezTo>
                  <a:pt x="733630" y="5434899"/>
                  <a:pt x="744432" y="5468566"/>
                  <a:pt x="714393" y="5468302"/>
                </a:cubicBezTo>
                <a:cubicBezTo>
                  <a:pt x="665910" y="5456640"/>
                  <a:pt x="715197" y="5479526"/>
                  <a:pt x="639791" y="5476924"/>
                </a:cubicBezTo>
                <a:cubicBezTo>
                  <a:pt x="635590" y="5474880"/>
                  <a:pt x="626375" y="5477333"/>
                  <a:pt x="627266" y="5480260"/>
                </a:cubicBezTo>
                <a:cubicBezTo>
                  <a:pt x="622501" y="5479477"/>
                  <a:pt x="611196" y="5474127"/>
                  <a:pt x="609977" y="5478891"/>
                </a:cubicBezTo>
                <a:cubicBezTo>
                  <a:pt x="585928" y="5480121"/>
                  <a:pt x="562064" y="5478026"/>
                  <a:pt x="540688" y="5472807"/>
                </a:cubicBezTo>
                <a:cubicBezTo>
                  <a:pt x="494260" y="5482226"/>
                  <a:pt x="519722" y="5459453"/>
                  <a:pt x="486194" y="5462661"/>
                </a:cubicBezTo>
                <a:cubicBezTo>
                  <a:pt x="459222" y="5472731"/>
                  <a:pt x="449283" y="5465413"/>
                  <a:pt x="418164" y="5472485"/>
                </a:cubicBezTo>
                <a:cubicBezTo>
                  <a:pt x="407504" y="5457469"/>
                  <a:pt x="388899" y="5474930"/>
                  <a:pt x="376724" y="5470967"/>
                </a:cubicBezTo>
                <a:cubicBezTo>
                  <a:pt x="357541" y="5489409"/>
                  <a:pt x="329120" y="5456071"/>
                  <a:pt x="308908" y="5457025"/>
                </a:cubicBezTo>
                <a:cubicBezTo>
                  <a:pt x="274916" y="5461376"/>
                  <a:pt x="238368" y="5480973"/>
                  <a:pt x="219416" y="5463995"/>
                </a:cubicBezTo>
                <a:cubicBezTo>
                  <a:pt x="217077" y="5471389"/>
                  <a:pt x="220429" y="5481203"/>
                  <a:pt x="200977" y="5480608"/>
                </a:cubicBezTo>
                <a:cubicBezTo>
                  <a:pt x="193315" y="5484612"/>
                  <a:pt x="192227" y="5495868"/>
                  <a:pt x="176226" y="5491022"/>
                </a:cubicBezTo>
                <a:cubicBezTo>
                  <a:pt x="195501" y="5480307"/>
                  <a:pt x="163065" y="5480325"/>
                  <a:pt x="165702" y="5468604"/>
                </a:cubicBezTo>
                <a:cubicBezTo>
                  <a:pt x="141228" y="5462364"/>
                  <a:pt x="86026" y="5474606"/>
                  <a:pt x="88282" y="5453658"/>
                </a:cubicBezTo>
                <a:cubicBezTo>
                  <a:pt x="80722" y="5441690"/>
                  <a:pt x="50300" y="5462007"/>
                  <a:pt x="49602" y="5448762"/>
                </a:cubicBezTo>
                <a:cubicBezTo>
                  <a:pt x="42967" y="5453333"/>
                  <a:pt x="33469" y="5452380"/>
                  <a:pt x="22844" y="5450459"/>
                </a:cubicBezTo>
                <a:lnTo>
                  <a:pt x="0" y="5447653"/>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2126643-A078-D9BE-2879-0471DA7C8819}"/>
              </a:ext>
            </a:extLst>
          </p:cNvPr>
          <p:cNvSpPr>
            <a:spLocks noGrp="1"/>
          </p:cNvSpPr>
          <p:nvPr>
            <p:ph type="title"/>
          </p:nvPr>
        </p:nvSpPr>
        <p:spPr>
          <a:xfrm>
            <a:off x="1215900" y="1071349"/>
            <a:ext cx="5886449" cy="1211475"/>
          </a:xfrm>
        </p:spPr>
        <p:txBody>
          <a:bodyPr vert="horz" lIns="91440" tIns="45720" rIns="91440" bIns="45720" rtlCol="0" anchor="ctr">
            <a:normAutofit/>
          </a:bodyPr>
          <a:lstStyle/>
          <a:p>
            <a:pPr algn="ctr"/>
            <a:r>
              <a:rPr lang="en-US" sz="3600" b="1" dirty="0"/>
              <a:t>What Is Aspire?</a:t>
            </a:r>
          </a:p>
        </p:txBody>
      </p:sp>
      <p:sp>
        <p:nvSpPr>
          <p:cNvPr id="21" name="Rectangle 6">
            <a:extLst>
              <a:ext uri="{FF2B5EF4-FFF2-40B4-BE49-F238E27FC236}">
                <a16:creationId xmlns:a16="http://schemas.microsoft.com/office/drawing/2014/main" id="{F0C518C2-0AA4-470C-87B9-9CBF428FBA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05249" y="395108"/>
            <a:ext cx="1707751"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6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9227BA66-8C48-E256-79C7-64F10050F0F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283384" y="2419350"/>
            <a:ext cx="5751481" cy="3237647"/>
          </a:xfrm>
        </p:spPr>
        <p:txBody>
          <a:bodyPr>
            <a:normAutofit/>
          </a:bodyPr>
          <a:lstStyle/>
          <a:p>
            <a:pPr marL="0" indent="0">
              <a:spcBef>
                <a:spcPts val="2500"/>
              </a:spcBef>
              <a:buFont typeface="Arial" panose="020B0604020202020204" pitchFamily="34" charset="0"/>
              <a:buNone/>
            </a:pPr>
            <a:r>
              <a:rPr lang="en-US" sz="1400" b="1" dirty="0"/>
              <a:t>Polyglot Distributed Application Stack</a:t>
            </a:r>
          </a:p>
          <a:p>
            <a:pPr marL="0" lvl="1" indent="0">
              <a:buFont typeface="Arial" panose="020B0604020202020204" pitchFamily="34" charset="0"/>
              <a:buNone/>
            </a:pPr>
            <a:r>
              <a:rPr lang="en-US" sz="1400" dirty="0"/>
              <a:t>Aspire is designed for building distributed applications, streamlining complex development with opinionated choices.</a:t>
            </a:r>
          </a:p>
          <a:p>
            <a:pPr marL="0" indent="0">
              <a:spcBef>
                <a:spcPts val="2500"/>
              </a:spcBef>
              <a:buFont typeface="Arial" panose="020B0604020202020204" pitchFamily="34" charset="0"/>
              <a:buNone/>
            </a:pPr>
            <a:r>
              <a:rPr lang="en-US" sz="1400" b="1" dirty="0"/>
              <a:t>Built-in Orchestration and Diagnostics</a:t>
            </a:r>
          </a:p>
          <a:p>
            <a:pPr marL="0" lvl="1" indent="0">
              <a:buFont typeface="Arial" panose="020B0604020202020204" pitchFamily="34" charset="0"/>
              <a:buNone/>
            </a:pPr>
            <a:r>
              <a:rPr lang="en-US" sz="1400" dirty="0"/>
              <a:t>Aspire offers orchestration, diagnostics, and service discovery for easier management and troubleshooting of modern apps.</a:t>
            </a:r>
          </a:p>
          <a:p>
            <a:pPr marL="0" indent="0">
              <a:spcBef>
                <a:spcPts val="2500"/>
              </a:spcBef>
              <a:buFont typeface="Arial" panose="020B0604020202020204" pitchFamily="34" charset="0"/>
              <a:buNone/>
            </a:pPr>
            <a:r>
              <a:rPr lang="en-US" sz="1400" b="1" dirty="0"/>
              <a:t>Developer-First and Reliable</a:t>
            </a:r>
          </a:p>
          <a:p>
            <a:pPr marL="0" lvl="1" indent="0">
              <a:buFont typeface="Arial" panose="020B0604020202020204" pitchFamily="34" charset="0"/>
              <a:buNone/>
            </a:pPr>
            <a:r>
              <a:rPr lang="en-US" sz="1400" dirty="0"/>
              <a:t>Aspire focuses on developer productivity and production reliability, making .NET projects easier and more robust.</a:t>
            </a:r>
          </a:p>
        </p:txBody>
      </p:sp>
      <p:sp>
        <p:nvSpPr>
          <p:cNvPr id="7" name="Oval 6">
            <a:extLst>
              <a:ext uri="{FF2B5EF4-FFF2-40B4-BE49-F238E27FC236}">
                <a16:creationId xmlns:a16="http://schemas.microsoft.com/office/drawing/2014/main" id="{8B82A958-EC4D-5662-B5A7-10AD1B74CFE8}"/>
              </a:ext>
            </a:extLst>
          </p:cNvPr>
          <p:cNvSpPr/>
          <p:nvPr/>
        </p:nvSpPr>
        <p:spPr>
          <a:xfrm>
            <a:off x="8913088" y="3469459"/>
            <a:ext cx="1347611" cy="1343278"/>
          </a:xfrm>
          <a:prstGeom prst="ellipse">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6" name="Picture 5">
            <a:extLst>
              <a:ext uri="{FF2B5EF4-FFF2-40B4-BE49-F238E27FC236}">
                <a16:creationId xmlns:a16="http://schemas.microsoft.com/office/drawing/2014/main" id="{243747BB-7266-1299-53B9-BE862DF20D16}"/>
              </a:ext>
            </a:extLst>
          </p:cNvPr>
          <p:cNvPicPr>
            <a:picLocks noChangeAspect="1"/>
          </p:cNvPicPr>
          <p:nvPr/>
        </p:nvPicPr>
        <p:blipFill>
          <a:blip r:embed="rId4"/>
          <a:stretch>
            <a:fillRect/>
          </a:stretch>
        </p:blipFill>
        <p:spPr>
          <a:xfrm>
            <a:off x="9110687" y="3681876"/>
            <a:ext cx="962068" cy="873940"/>
          </a:xfrm>
          <a:prstGeom prst="rect">
            <a:avLst/>
          </a:prstGeom>
        </p:spPr>
      </p:pic>
    </p:spTree>
    <p:extLst>
      <p:ext uri="{BB962C8B-B14F-4D97-AF65-F5344CB8AC3E}">
        <p14:creationId xmlns:p14="http://schemas.microsoft.com/office/powerpoint/2010/main" val="2704830360"/>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97723FA5-0F9E-5CC6-BE60-567BB941AB19}"/>
              </a:ext>
              <a:ext uri="{C183D7F6-B498-43B3-948B-1728B52AA6E4}">
                <adec:decorative xmlns:adec="http://schemas.microsoft.com/office/drawing/2017/decorative" val="1"/>
              </a:ext>
            </a:extLst>
          </p:cNvPr>
          <p:cNvSpPr txBox="1"/>
          <p:nvPr/>
        </p:nvSpPr>
        <p:spPr>
          <a:xfrm>
            <a:off x="2882518" y="731801"/>
            <a:ext cx="6182770" cy="228251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endParaRPr lang="en-US" sz="9948" b="1" kern="0" spc="-75">
              <a:latin typeface="Segoe UI Semibold" panose="020B0502040204020203" pitchFamily="34" charset="0"/>
              <a:cs typeface="Segoe UI Semibold" panose="020B0502040204020203" pitchFamily="34" charset="0"/>
            </a:endParaRPr>
          </a:p>
        </p:txBody>
      </p:sp>
      <p:sp>
        <p:nvSpPr>
          <p:cNvPr id="57" name="TextBox 56">
            <a:extLst>
              <a:ext uri="{FF2B5EF4-FFF2-40B4-BE49-F238E27FC236}">
                <a16:creationId xmlns:a16="http://schemas.microsoft.com/office/drawing/2014/main" id="{6F0696DA-AD91-A9CC-C02C-2715E0DD8C45}"/>
              </a:ext>
            </a:extLst>
          </p:cNvPr>
          <p:cNvSpPr txBox="1"/>
          <p:nvPr/>
        </p:nvSpPr>
        <p:spPr>
          <a:xfrm>
            <a:off x="2237682" y="3428939"/>
            <a:ext cx="3736222" cy="60589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r>
              <a:rPr lang="en-US" sz="2200" b="1" kern="0" spc="-75">
                <a:latin typeface="Segoe UI Semibold" panose="020B0502040204020203" pitchFamily="34" charset="0"/>
                <a:cs typeface="Segoe UI Semibold" panose="020B0502040204020203" pitchFamily="34" charset="0"/>
              </a:rPr>
              <a:t>Smart Defaults</a:t>
            </a:r>
          </a:p>
        </p:txBody>
      </p:sp>
      <p:sp>
        <p:nvSpPr>
          <p:cNvPr id="58" name="TextBox 57">
            <a:extLst>
              <a:ext uri="{FF2B5EF4-FFF2-40B4-BE49-F238E27FC236}">
                <a16:creationId xmlns:a16="http://schemas.microsoft.com/office/drawing/2014/main" id="{BDDFFCEE-376A-7227-C67A-E7F8E9C0343A}"/>
              </a:ext>
            </a:extLst>
          </p:cNvPr>
          <p:cNvSpPr txBox="1"/>
          <p:nvPr/>
        </p:nvSpPr>
        <p:spPr>
          <a:xfrm>
            <a:off x="6287359" y="3428939"/>
            <a:ext cx="3736223" cy="60589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r>
              <a:rPr lang="en-US" sz="2200" b="1" kern="0" spc="-75">
                <a:latin typeface="Segoe UI Semibold" panose="020B0502040204020203" pitchFamily="34" charset="0"/>
                <a:cs typeface="Segoe UI Semibold" panose="020B0502040204020203" pitchFamily="34" charset="0"/>
              </a:rPr>
              <a:t>Developer Dashboard</a:t>
            </a:r>
          </a:p>
        </p:txBody>
      </p:sp>
      <p:sp>
        <p:nvSpPr>
          <p:cNvPr id="59" name="TextBox 58">
            <a:extLst>
              <a:ext uri="{FF2B5EF4-FFF2-40B4-BE49-F238E27FC236}">
                <a16:creationId xmlns:a16="http://schemas.microsoft.com/office/drawing/2014/main" id="{8EAECDA8-2113-EF21-90C4-37414A2EB1C2}"/>
              </a:ext>
            </a:extLst>
          </p:cNvPr>
          <p:cNvSpPr txBox="1"/>
          <p:nvPr/>
        </p:nvSpPr>
        <p:spPr>
          <a:xfrm>
            <a:off x="2237682" y="4276415"/>
            <a:ext cx="3736222" cy="60589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r>
              <a:rPr lang="en-US" sz="2200" b="1" kern="0" spc="-75">
                <a:latin typeface="Segoe UI Semibold" panose="020B0502040204020203" pitchFamily="34" charset="0"/>
                <a:cs typeface="Segoe UI Semibold" panose="020B0502040204020203" pitchFamily="34" charset="0"/>
              </a:rPr>
              <a:t>Orchestration</a:t>
            </a:r>
          </a:p>
        </p:txBody>
      </p:sp>
      <p:sp>
        <p:nvSpPr>
          <p:cNvPr id="60" name="TextBox 59">
            <a:extLst>
              <a:ext uri="{FF2B5EF4-FFF2-40B4-BE49-F238E27FC236}">
                <a16:creationId xmlns:a16="http://schemas.microsoft.com/office/drawing/2014/main" id="{3AE55DF2-574F-2C71-6B87-4E7A8FA65F6E}"/>
              </a:ext>
            </a:extLst>
          </p:cNvPr>
          <p:cNvSpPr txBox="1"/>
          <p:nvPr/>
        </p:nvSpPr>
        <p:spPr>
          <a:xfrm>
            <a:off x="6287360" y="4276415"/>
            <a:ext cx="3736222" cy="60589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r>
              <a:rPr lang="en-US" sz="2200" b="1" kern="0" spc="-75">
                <a:latin typeface="Segoe UI Semibold" panose="020B0502040204020203" pitchFamily="34" charset="0"/>
                <a:cs typeface="Segoe UI Semibold" panose="020B0502040204020203" pitchFamily="34" charset="0"/>
              </a:rPr>
              <a:t>Service Discovery</a:t>
            </a:r>
          </a:p>
        </p:txBody>
      </p:sp>
      <p:sp>
        <p:nvSpPr>
          <p:cNvPr id="4" name="TextBox 3">
            <a:extLst>
              <a:ext uri="{FF2B5EF4-FFF2-40B4-BE49-F238E27FC236}">
                <a16:creationId xmlns:a16="http://schemas.microsoft.com/office/drawing/2014/main" id="{2A2849DE-C5CF-4C8F-35B8-14ACC7AD892D}"/>
              </a:ext>
            </a:extLst>
          </p:cNvPr>
          <p:cNvSpPr txBox="1"/>
          <p:nvPr/>
        </p:nvSpPr>
        <p:spPr>
          <a:xfrm>
            <a:off x="2121418" y="2233266"/>
            <a:ext cx="7949165" cy="954088"/>
          </a:xfrm>
          <a:prstGeom prst="roundRect">
            <a:avLst>
              <a:gd name="adj" fmla="val 50000"/>
            </a:avLst>
          </a:prstGeom>
          <a:gradFill flip="none" rotWithShape="1">
            <a:gsLst>
              <a:gs pos="85000">
                <a:srgbClr val="3803DB"/>
              </a:gs>
              <a:gs pos="0">
                <a:srgbClr val="C03BC4"/>
              </a:gs>
            </a:gsLst>
            <a:path path="circle">
              <a:fillToRect l="100000" t="100000"/>
            </a:path>
            <a:tileRect r="-100000" b="-100000"/>
          </a:gradFill>
          <a:ln w="9525" cap="flat" cmpd="sng" algn="ctr">
            <a:noFill/>
            <a:prstDash val="solid"/>
            <a:headEnd type="none" w="med" len="med"/>
            <a:tailEnd type="none" w="med" len="med"/>
          </a:ln>
          <a:effectLst>
            <a:outerShdw blurRad="63500" dist="127000" dir="2700000" algn="tl" rotWithShape="0">
              <a:srgbClr val="454142">
                <a:alpha val="20000"/>
              </a:srgbClr>
            </a:outerShdw>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a:defRPr lang="en-US"/>
            </a:defPPr>
            <a:lvl1pPr marL="0" algn="l" defTabSz="1828891" rtl="0" eaLnBrk="1" latinLnBrk="0" hangingPunct="1">
              <a:defRPr sz="3600" kern="1200">
                <a:solidFill>
                  <a:schemeClr val="tx1"/>
                </a:solidFill>
                <a:latin typeface="+mn-lt"/>
                <a:ea typeface="+mn-ea"/>
                <a:cs typeface="+mn-cs"/>
              </a:defRPr>
            </a:lvl1pPr>
            <a:lvl2pPr marL="914446" algn="l" defTabSz="1828891" rtl="0" eaLnBrk="1" latinLnBrk="0" hangingPunct="1">
              <a:defRPr sz="3600" kern="1200">
                <a:solidFill>
                  <a:schemeClr val="tx1"/>
                </a:solidFill>
                <a:latin typeface="+mn-lt"/>
                <a:ea typeface="+mn-ea"/>
                <a:cs typeface="+mn-cs"/>
              </a:defRPr>
            </a:lvl2pPr>
            <a:lvl3pPr marL="1828891" algn="l" defTabSz="1828891" rtl="0" eaLnBrk="1" latinLnBrk="0" hangingPunct="1">
              <a:defRPr sz="3600" kern="1200">
                <a:solidFill>
                  <a:schemeClr val="tx1"/>
                </a:solidFill>
                <a:latin typeface="+mn-lt"/>
                <a:ea typeface="+mn-ea"/>
                <a:cs typeface="+mn-cs"/>
              </a:defRPr>
            </a:lvl3pPr>
            <a:lvl4pPr marL="2743337" algn="l" defTabSz="1828891" rtl="0" eaLnBrk="1" latinLnBrk="0" hangingPunct="1">
              <a:defRPr sz="3600" kern="1200">
                <a:solidFill>
                  <a:schemeClr val="tx1"/>
                </a:solidFill>
                <a:latin typeface="+mn-lt"/>
                <a:ea typeface="+mn-ea"/>
                <a:cs typeface="+mn-cs"/>
              </a:defRPr>
            </a:lvl4pPr>
            <a:lvl5pPr marL="3657783" algn="l" defTabSz="1828891" rtl="0" eaLnBrk="1" latinLnBrk="0" hangingPunct="1">
              <a:defRPr sz="3600" kern="1200">
                <a:solidFill>
                  <a:schemeClr val="tx1"/>
                </a:solidFill>
                <a:latin typeface="+mn-lt"/>
                <a:ea typeface="+mn-ea"/>
                <a:cs typeface="+mn-cs"/>
              </a:defRPr>
            </a:lvl5pPr>
            <a:lvl6pPr marL="4572229" algn="l" defTabSz="1828891" rtl="0" eaLnBrk="1" latinLnBrk="0" hangingPunct="1">
              <a:defRPr sz="3600" kern="1200">
                <a:solidFill>
                  <a:schemeClr val="tx1"/>
                </a:solidFill>
                <a:latin typeface="+mn-lt"/>
                <a:ea typeface="+mn-ea"/>
                <a:cs typeface="+mn-cs"/>
              </a:defRPr>
            </a:lvl6pPr>
            <a:lvl7pPr marL="5486674" algn="l" defTabSz="1828891" rtl="0" eaLnBrk="1" latinLnBrk="0" hangingPunct="1">
              <a:defRPr sz="3600" kern="1200">
                <a:solidFill>
                  <a:schemeClr val="tx1"/>
                </a:solidFill>
                <a:latin typeface="+mn-lt"/>
                <a:ea typeface="+mn-ea"/>
                <a:cs typeface="+mn-cs"/>
              </a:defRPr>
            </a:lvl7pPr>
            <a:lvl8pPr marL="6401120" algn="l" defTabSz="1828891" rtl="0" eaLnBrk="1" latinLnBrk="0" hangingPunct="1">
              <a:defRPr sz="3600" kern="1200">
                <a:solidFill>
                  <a:schemeClr val="tx1"/>
                </a:solidFill>
                <a:latin typeface="+mn-lt"/>
                <a:ea typeface="+mn-ea"/>
                <a:cs typeface="+mn-cs"/>
              </a:defRPr>
            </a:lvl8pPr>
            <a:lvl9pPr marL="7315566" algn="l" defTabSz="1828891" rtl="0" eaLnBrk="1" latinLnBrk="0" hangingPunct="1">
              <a:defRPr sz="3600" kern="1200">
                <a:solidFill>
                  <a:schemeClr val="tx1"/>
                </a:solidFill>
                <a:latin typeface="+mn-lt"/>
                <a:ea typeface="+mn-ea"/>
                <a:cs typeface="+mn-cs"/>
              </a:defRPr>
            </a:lvl9pPr>
          </a:lstStyle>
          <a:p>
            <a:pPr algn="ctr" defTabSz="914184" fontAlgn="base">
              <a:spcBef>
                <a:spcPct val="0"/>
              </a:spcBef>
              <a:spcAft>
                <a:spcPct val="0"/>
              </a:spcAft>
              <a:defRPr/>
            </a:pPr>
            <a:r>
              <a:rPr lang="en-US" sz="2000" b="1" kern="0">
                <a:ln w="3175">
                  <a:noFill/>
                </a:ln>
                <a:solidFill>
                  <a:srgbClr val="FFFFFF"/>
                </a:solidFill>
                <a:latin typeface="Open Sans" panose="020B0606030504020204" pitchFamily="34" charset="0"/>
                <a:ea typeface="Open Sans" panose="020B0606030504020204" pitchFamily="34" charset="0"/>
                <a:cs typeface="Open Sans" panose="020B0606030504020204" pitchFamily="34" charset="0"/>
              </a:rPr>
              <a:t>A cloud ready stack for building observable,</a:t>
            </a:r>
            <a:br>
              <a:rPr lang="en-US" sz="2000" b="1" kern="0">
                <a:ln w="3175">
                  <a:noFill/>
                </a:ln>
                <a:solidFill>
                  <a:srgbClr val="FFFFFF"/>
                </a:solidFill>
                <a:latin typeface="Open Sans" panose="020B0606030504020204" pitchFamily="34" charset="0"/>
                <a:ea typeface="Open Sans" panose="020B0606030504020204" pitchFamily="34" charset="0"/>
                <a:cs typeface="Open Sans" panose="020B0606030504020204" pitchFamily="34" charset="0"/>
              </a:rPr>
            </a:br>
            <a:r>
              <a:rPr lang="en-US" sz="2000" b="1" kern="0">
                <a:ln w="3175">
                  <a:noFill/>
                </a:ln>
                <a:solidFill>
                  <a:srgbClr val="FFFFFF"/>
                </a:solidFill>
                <a:latin typeface="Open Sans" panose="020B0606030504020204" pitchFamily="34" charset="0"/>
                <a:ea typeface="Open Sans" panose="020B0606030504020204" pitchFamily="34" charset="0"/>
                <a:cs typeface="Open Sans" panose="020B0606030504020204" pitchFamily="34" charset="0"/>
              </a:rPr>
              <a:t> production ready, distributed applications</a:t>
            </a:r>
          </a:p>
        </p:txBody>
      </p:sp>
      <p:sp>
        <p:nvSpPr>
          <p:cNvPr id="61" name="TextBox 60">
            <a:extLst>
              <a:ext uri="{FF2B5EF4-FFF2-40B4-BE49-F238E27FC236}">
                <a16:creationId xmlns:a16="http://schemas.microsoft.com/office/drawing/2014/main" id="{6B1DB59E-D497-2683-30BD-1600A87AC873}"/>
              </a:ext>
            </a:extLst>
          </p:cNvPr>
          <p:cNvSpPr txBox="1"/>
          <p:nvPr/>
        </p:nvSpPr>
        <p:spPr>
          <a:xfrm>
            <a:off x="6287360" y="5123891"/>
            <a:ext cx="3736222" cy="60589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r>
              <a:rPr lang="en-US" sz="2200" b="1" kern="0" spc="-75">
                <a:latin typeface="Segoe UI Semibold" panose="020B0502040204020203" pitchFamily="34" charset="0"/>
                <a:cs typeface="Segoe UI Semibold" panose="020B0502040204020203" pitchFamily="34" charset="0"/>
              </a:rPr>
              <a:t>Deployment</a:t>
            </a:r>
          </a:p>
        </p:txBody>
      </p:sp>
      <p:sp>
        <p:nvSpPr>
          <p:cNvPr id="2" name="TextBox 1">
            <a:extLst>
              <a:ext uri="{FF2B5EF4-FFF2-40B4-BE49-F238E27FC236}">
                <a16:creationId xmlns:a16="http://schemas.microsoft.com/office/drawing/2014/main" id="{8D8F07D5-626B-DDA9-CD00-771AC86161F3}"/>
              </a:ext>
            </a:extLst>
          </p:cNvPr>
          <p:cNvSpPr txBox="1"/>
          <p:nvPr/>
        </p:nvSpPr>
        <p:spPr>
          <a:xfrm>
            <a:off x="2237682" y="5123891"/>
            <a:ext cx="3736222" cy="605892"/>
          </a:xfrm>
          <a:prstGeom prst="roundRect">
            <a:avLst>
              <a:gd name="adj" fmla="val 50000"/>
            </a:avLst>
          </a:prstGeom>
          <a:solidFill>
            <a:schemeClr val="bg1"/>
          </a:solidFill>
          <a:ln w="38100">
            <a:noFill/>
          </a:ln>
          <a:effectLst>
            <a:outerShdw blurRad="101600" dist="76200" dir="2700000" algn="tl" rotWithShape="0">
              <a:srgbClr val="562920">
                <a:alpha val="14902"/>
              </a:srgbClr>
            </a:outerShdw>
          </a:effectLst>
        </p:spPr>
        <p:txBody>
          <a:bodyPr wrap="square" lIns="0" tIns="45714" rIns="0" bIns="45714" anchor="b" anchorCtr="0">
            <a:spAutoFit/>
          </a:bodyPr>
          <a:lstStyle/>
          <a:p>
            <a:pPr algn="ctr" defTabSz="457109">
              <a:defRPr/>
            </a:pPr>
            <a:r>
              <a:rPr lang="en-US" sz="2200" b="1" kern="0" spc="-75" dirty="0">
                <a:latin typeface="Segoe UI Semibold" panose="020B0502040204020203" pitchFamily="34" charset="0"/>
                <a:cs typeface="Segoe UI Semibold" panose="020B0502040204020203" pitchFamily="34" charset="0"/>
              </a:rPr>
              <a:t>Integrations</a:t>
            </a:r>
          </a:p>
        </p:txBody>
      </p:sp>
      <p:sp>
        <p:nvSpPr>
          <p:cNvPr id="3" name="Title 2">
            <a:extLst>
              <a:ext uri="{FF2B5EF4-FFF2-40B4-BE49-F238E27FC236}">
                <a16:creationId xmlns:a16="http://schemas.microsoft.com/office/drawing/2014/main" id="{5FF271A9-7C93-DF3F-4614-C2662CF1B760}"/>
              </a:ext>
            </a:extLst>
          </p:cNvPr>
          <p:cNvSpPr>
            <a:spLocks noGrp="1"/>
          </p:cNvSpPr>
          <p:nvPr>
            <p:ph type="title"/>
          </p:nvPr>
        </p:nvSpPr>
        <p:spPr>
          <a:xfrm>
            <a:off x="838200" y="-1325563"/>
            <a:ext cx="10515600" cy="1325563"/>
          </a:xfrm>
        </p:spPr>
        <p:txBody>
          <a:bodyPr vert="horz" lIns="91440" tIns="45720" rIns="91440" bIns="45720" rtlCol="0" anchor="b">
            <a:normAutofit/>
          </a:bodyPr>
          <a:lstStyle/>
          <a:p>
            <a:r>
              <a:rPr lang="en-US" dirty="0"/>
              <a:t>.NET Aspire Includes…</a:t>
            </a:r>
          </a:p>
        </p:txBody>
      </p:sp>
      <p:pic>
        <p:nvPicPr>
          <p:cNvPr id="8" name="Picture 7">
            <a:extLst>
              <a:ext uri="{FF2B5EF4-FFF2-40B4-BE49-F238E27FC236}">
                <a16:creationId xmlns:a16="http://schemas.microsoft.com/office/drawing/2014/main" id="{7570C931-BB1A-84FC-3679-1962CB453605}"/>
              </a:ext>
            </a:extLst>
          </p:cNvPr>
          <p:cNvPicPr>
            <a:picLocks noChangeAspect="1"/>
          </p:cNvPicPr>
          <p:nvPr/>
        </p:nvPicPr>
        <p:blipFill>
          <a:blip r:embed="rId3"/>
          <a:stretch>
            <a:fillRect/>
          </a:stretch>
        </p:blipFill>
        <p:spPr>
          <a:xfrm>
            <a:off x="4548639" y="863665"/>
            <a:ext cx="3477439" cy="1476214"/>
          </a:xfrm>
          <a:prstGeom prst="rect">
            <a:avLst/>
          </a:prstGeom>
        </p:spPr>
      </p:pic>
    </p:spTree>
    <p:extLst>
      <p:ext uri="{BB962C8B-B14F-4D97-AF65-F5344CB8AC3E}">
        <p14:creationId xmlns:p14="http://schemas.microsoft.com/office/powerpoint/2010/main" val="538462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42" presetClass="path" presetSubtype="0" decel="100000" fill="hold" grpId="1" nodeType="withEffect">
                                  <p:stCondLst>
                                    <p:cond delay="0"/>
                                  </p:stCondLst>
                                  <p:childTnLst>
                                    <p:animMotion origin="layout" path="M 0 0.04606 L 0 0 " pathEditMode="relative" rAng="0" ptsTypes="AA">
                                      <p:cBhvr>
                                        <p:cTn id="9" dur="500" fill="hold"/>
                                        <p:tgtEl>
                                          <p:spTgt spid="4"/>
                                        </p:tgtEl>
                                        <p:attrNameLst>
                                          <p:attrName>ppt_x</p:attrName>
                                          <p:attrName>ppt_y</p:attrName>
                                        </p:attrNameLst>
                                      </p:cBhvr>
                                      <p:rCtr x="0" y="-2315"/>
                                    </p:animMotion>
                                  </p:childTnLst>
                                </p:cTn>
                              </p:par>
                            </p:childTnLst>
                          </p:cTn>
                        </p:par>
                        <p:par>
                          <p:cTn id="10" fill="hold">
                            <p:stCondLst>
                              <p:cond delay="50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1000"/>
                            </p:stCondLst>
                            <p:childTnLst>
                              <p:par>
                                <p:cTn id="15" presetID="10" presetClass="entr" presetSubtype="0" fill="hold" grpId="0" nodeType="after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500"/>
                                        <p:tgtEl>
                                          <p:spTgt spid="5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fade">
                                      <p:cBhvr>
                                        <p:cTn id="21" dur="500"/>
                                        <p:tgtEl>
                                          <p:spTgt spid="58"/>
                                        </p:tgtEl>
                                      </p:cBhvr>
                                    </p:animEffect>
                                  </p:childTnLst>
                                </p:cTn>
                              </p:par>
                            </p:childTnLst>
                          </p:cTn>
                        </p:par>
                        <p:par>
                          <p:cTn id="22" fill="hold">
                            <p:stCondLst>
                              <p:cond delay="2000"/>
                            </p:stCondLst>
                            <p:childTnLst>
                              <p:par>
                                <p:cTn id="23" presetID="10" presetClass="entr" presetSubtype="0" fill="hold" grpId="0" nodeType="afterEffect">
                                  <p:stCondLst>
                                    <p:cond delay="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500"/>
                                        <p:tgtEl>
                                          <p:spTgt spid="59"/>
                                        </p:tgtEl>
                                      </p:cBhvr>
                                    </p:animEffect>
                                  </p:childTnLst>
                                </p:cTn>
                              </p:par>
                            </p:childTnLst>
                          </p:cTn>
                        </p:par>
                        <p:par>
                          <p:cTn id="26" fill="hold">
                            <p:stCondLst>
                              <p:cond delay="2500"/>
                            </p:stCondLst>
                            <p:childTnLst>
                              <p:par>
                                <p:cTn id="27" presetID="10" presetClass="entr" presetSubtype="0" fill="hold" grpId="0" nodeType="afterEffect">
                                  <p:stCondLst>
                                    <p:cond delay="0"/>
                                  </p:stCondLst>
                                  <p:childTnLst>
                                    <p:set>
                                      <p:cBhvr>
                                        <p:cTn id="28" dur="1" fill="hold">
                                          <p:stCondLst>
                                            <p:cond delay="0"/>
                                          </p:stCondLst>
                                        </p:cTn>
                                        <p:tgtEl>
                                          <p:spTgt spid="60"/>
                                        </p:tgtEl>
                                        <p:attrNameLst>
                                          <p:attrName>style.visibility</p:attrName>
                                        </p:attrNameLst>
                                      </p:cBhvr>
                                      <p:to>
                                        <p:strVal val="visible"/>
                                      </p:to>
                                    </p:set>
                                    <p:animEffect transition="in" filter="fade">
                                      <p:cBhvr>
                                        <p:cTn id="29" dur="500"/>
                                        <p:tgtEl>
                                          <p:spTgt spid="60"/>
                                        </p:tgtEl>
                                      </p:cBhvr>
                                    </p:animEffect>
                                  </p:childTnLst>
                                </p:cTn>
                              </p:par>
                            </p:childTnLst>
                          </p:cTn>
                        </p:par>
                        <p:par>
                          <p:cTn id="30" fill="hold">
                            <p:stCondLst>
                              <p:cond delay="3000"/>
                            </p:stCondLst>
                            <p:childTnLst>
                              <p:par>
                                <p:cTn id="31" presetID="10" presetClass="entr" presetSubtype="0" fill="hold" grpId="0" nodeType="afterEffect">
                                  <p:stCondLst>
                                    <p:cond delay="0"/>
                                  </p:stCondLst>
                                  <p:childTnLst>
                                    <p:set>
                                      <p:cBhvr>
                                        <p:cTn id="32" dur="1" fill="hold">
                                          <p:stCondLst>
                                            <p:cond delay="0"/>
                                          </p:stCondLst>
                                        </p:cTn>
                                        <p:tgtEl>
                                          <p:spTgt spid="2"/>
                                        </p:tgtEl>
                                        <p:attrNameLst>
                                          <p:attrName>style.visibility</p:attrName>
                                        </p:attrNameLst>
                                      </p:cBhvr>
                                      <p:to>
                                        <p:strVal val="visible"/>
                                      </p:to>
                                    </p:set>
                                    <p:animEffect transition="in" filter="fade">
                                      <p:cBhvr>
                                        <p:cTn id="33" dur="500"/>
                                        <p:tgtEl>
                                          <p:spTgt spid="2"/>
                                        </p:tgtEl>
                                      </p:cBhvr>
                                    </p:animEffect>
                                  </p:childTnLst>
                                </p:cTn>
                              </p:par>
                            </p:childTnLst>
                          </p:cTn>
                        </p:par>
                        <p:par>
                          <p:cTn id="34" fill="hold">
                            <p:stCondLst>
                              <p:cond delay="3500"/>
                            </p:stCondLst>
                            <p:childTnLst>
                              <p:par>
                                <p:cTn id="35" presetID="10" presetClass="entr" presetSubtype="0" fill="hold" grpId="0" nodeType="afterEffect">
                                  <p:stCondLst>
                                    <p:cond delay="0"/>
                                  </p:stCondLst>
                                  <p:childTnLst>
                                    <p:set>
                                      <p:cBhvr>
                                        <p:cTn id="36" dur="1" fill="hold">
                                          <p:stCondLst>
                                            <p:cond delay="0"/>
                                          </p:stCondLst>
                                        </p:cTn>
                                        <p:tgtEl>
                                          <p:spTgt spid="61"/>
                                        </p:tgtEl>
                                        <p:attrNameLst>
                                          <p:attrName>style.visibility</p:attrName>
                                        </p:attrNameLst>
                                      </p:cBhvr>
                                      <p:to>
                                        <p:strVal val="visible"/>
                                      </p:to>
                                    </p:set>
                                    <p:animEffect transition="in" filter="fade">
                                      <p:cBhvr>
                                        <p:cTn id="3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7" grpId="0" animBg="1"/>
      <p:bldP spid="58" grpId="0" animBg="1"/>
      <p:bldP spid="59" grpId="0" animBg="1"/>
      <p:bldP spid="60" grpId="0" animBg="1"/>
      <p:bldP spid="4" grpId="0" animBg="1"/>
      <p:bldP spid="4" grpId="1" animBg="1"/>
      <p:bldP spid="61" grpId="0" animBg="1"/>
      <p:bldP spid="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212</TotalTime>
  <Words>443</Words>
  <Application>Microsoft Office PowerPoint</Application>
  <PresentationFormat>Widescreen</PresentationFormat>
  <Paragraphs>31</Paragraphs>
  <Slides>4</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Aptos</vt:lpstr>
      <vt:lpstr>Aptos Display</vt:lpstr>
      <vt:lpstr>Arial</vt:lpstr>
      <vt:lpstr>Arial Rounded MT Bold</vt:lpstr>
      <vt:lpstr>Calibri</vt:lpstr>
      <vt:lpstr>Open Sans</vt:lpstr>
      <vt:lpstr>Segoe UI Semibold</vt:lpstr>
      <vt:lpstr>Office Theme</vt:lpstr>
      <vt:lpstr>Building Confident Application Systems with Aspire</vt:lpstr>
      <vt:lpstr>Modern .NET Apps: Complex Realities</vt:lpstr>
      <vt:lpstr>What Is Aspire?</vt:lpstr>
      <vt:lpstr>.NET Aspire Includes…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 Fritz</dc:creator>
  <cp:lastModifiedBy>Jeffrey T. Fritz</cp:lastModifiedBy>
  <cp:revision>3</cp:revision>
  <dcterms:created xsi:type="dcterms:W3CDTF">2025-08-05T04:25:10Z</dcterms:created>
  <dcterms:modified xsi:type="dcterms:W3CDTF">2025-11-19T20:47:09Z</dcterms:modified>
</cp:coreProperties>
</file>