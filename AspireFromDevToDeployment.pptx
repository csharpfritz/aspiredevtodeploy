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7" r:id="rId2"/>
    <p:sldId id="258" r:id="rId3"/>
    <p:sldId id="259" r:id="rId4"/>
    <p:sldId id="21474813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7" autoAdjust="0"/>
    <p:restoredTop sz="94660"/>
  </p:normalViewPr>
  <p:slideViewPr>
    <p:cSldViewPr snapToGrid="0">
      <p:cViewPr varScale="1">
        <p:scale>
          <a:sx n="90" d="100"/>
          <a:sy n="90" d="100"/>
        </p:scale>
        <p:origin x="184"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FC12F-6A28-41AA-B5B2-67AA6D916EB8}" type="datetimeFigureOut">
              <a:rPr lang="en-US" smtClean="0"/>
              <a:t>8/5/2025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6F3679-BFC1-417D-BCD8-ECB6B9E7F2B5}" type="slidenum">
              <a:rPr lang="en-US" smtClean="0"/>
              <a:t>‹#›</a:t>
            </a:fld>
            <a:endParaRPr lang="en-US"/>
          </a:p>
        </p:txBody>
      </p:sp>
    </p:spTree>
    <p:extLst>
      <p:ext uri="{BB962C8B-B14F-4D97-AF65-F5344CB8AC3E}">
        <p14:creationId xmlns:p14="http://schemas.microsoft.com/office/powerpoint/2010/main" val="96215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Modern .NET applications often consist of microservices, APIs, and background workers, resulting in intricate architectures. Cloud-native expectations add layers like resilience, observability, and scalability. Developers are increasingly expected to manage operational tasks alongside coding, amplifying complexity and highlighting the need for effective tools and clear strategies.</a:t>
            </a:r>
          </a:p>
        </p:txBody>
      </p:sp>
      <p:sp>
        <p:nvSpPr>
          <p:cNvPr id="4" name="Slide Number Placeholder 3"/>
          <p:cNvSpPr>
            <a:spLocks noGrp="1"/>
          </p:cNvSpPr>
          <p:nvPr>
            <p:ph type="sldNum" sz="quarter" idx="5"/>
          </p:nvPr>
        </p:nvSpPr>
        <p:spPr/>
        <p:txBody>
          <a:bodyPr/>
          <a:lstStyle/>
          <a:p>
            <a:fld id="{B36F3679-BFC1-417D-BCD8-ECB6B9E7F2B5}" type="slidenum">
              <a:rPr lang="en-US" smtClean="0"/>
              <a:t>2</a:t>
            </a:fld>
            <a:endParaRPr lang="en-US"/>
          </a:p>
        </p:txBody>
      </p:sp>
    </p:spTree>
    <p:extLst>
      <p:ext uri="{BB962C8B-B14F-4D97-AF65-F5344CB8AC3E}">
        <p14:creationId xmlns:p14="http://schemas.microsoft.com/office/powerpoint/2010/main" val="824127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.NET Aspire is an opinionated stack designed for building distributed .NET applications. It provides built-in orchestration, diagnostics, and service discovery to simplify complex app development. With a developer-first, production-aware approach, .NET Aspire enhances productivity and reliability for modern .NET projects. (Visual: Aspire logo with tagline)</a:t>
            </a:r>
          </a:p>
        </p:txBody>
      </p:sp>
      <p:sp>
        <p:nvSpPr>
          <p:cNvPr id="4" name="Slide Number Placeholder 3"/>
          <p:cNvSpPr>
            <a:spLocks noGrp="1"/>
          </p:cNvSpPr>
          <p:nvPr>
            <p:ph type="sldNum" sz="quarter" idx="5"/>
          </p:nvPr>
        </p:nvSpPr>
        <p:spPr/>
        <p:txBody>
          <a:bodyPr/>
          <a:lstStyle/>
          <a:p>
            <a:fld id="{B36F3679-BFC1-417D-BCD8-ECB6B9E7F2B5}" type="slidenum">
              <a:rPr lang="en-US" smtClean="0"/>
              <a:t>3</a:t>
            </a:fld>
            <a:endParaRPr lang="en-US"/>
          </a:p>
        </p:txBody>
      </p:sp>
    </p:spTree>
    <p:extLst>
      <p:ext uri="{BB962C8B-B14F-4D97-AF65-F5344CB8AC3E}">
        <p14:creationId xmlns:p14="http://schemas.microsoft.com/office/powerpoint/2010/main" val="1644556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dirty="0"/>
              <a:t>So what's in .NET Aspire? There's a series of different features that help developers be more productive, build better observable production ready distributed applications, and ease the deployment in many scenarios for us. We're going to take a look at every single one of these different features from start to finish and integrate them into our application. Now a lot of people start with the developer dashboard because it's the fancy shiny thing that ships directly with .NET Aspire but we're going to start in a different area first which I think is one of the areas and features that every single application should integrate into our application today</a:t>
            </a:r>
          </a:p>
        </p:txBody>
      </p:sp>
      <p:sp>
        <p:nvSpPr>
          <p:cNvPr id="4" name="Slide Number Placeholder 3"/>
          <p:cNvSpPr>
            <a:spLocks noGrp="1"/>
          </p:cNvSpPr>
          <p:nvPr>
            <p:ph type="sldNum" sz="quarter" idx="5"/>
          </p:nvPr>
        </p:nvSpPr>
        <p:spPr/>
        <p:txBody>
          <a:bodyPr/>
          <a:lstStyle/>
          <a:p>
            <a:pPr marL="0" marR="0" lvl="0" indent="0" algn="r" defTabSz="949147" rtl="0" eaLnBrk="1" fontAlgn="auto" latinLnBrk="0" hangingPunct="1">
              <a:lnSpc>
                <a:spcPct val="100000"/>
              </a:lnSpc>
              <a:spcBef>
                <a:spcPts val="0"/>
              </a:spcBef>
              <a:spcAft>
                <a:spcPts val="0"/>
              </a:spcAft>
              <a:buClrTx/>
              <a:buSzTx/>
              <a:buFontTx/>
              <a:buNone/>
              <a:tabLst/>
              <a:defRPr/>
            </a:pPr>
            <a:fld id="{D96FA0A3-07FB-4AAC-A99C-E63CB0E4F33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4914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1726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D7C5A-4710-218D-75BB-E0C2AAD563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4E67A4-2378-2069-A7BE-C307BCBA9C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DB86B4-FA2B-6712-A9A2-B922DA1CEDEB}"/>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5" name="Footer Placeholder 4">
            <a:extLst>
              <a:ext uri="{FF2B5EF4-FFF2-40B4-BE49-F238E27FC236}">
                <a16:creationId xmlns:a16="http://schemas.microsoft.com/office/drawing/2014/main" id="{42B9E1A3-9873-4556-C753-CF609F24D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868A6C-0CB7-D7AB-BB5A-3BD94DB103F9}"/>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1529544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9F220-C6C9-72E7-BFA2-E13E4BFEF1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E3E035-3620-A305-E81C-A84796EE5C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9E03E2-4ABD-97D1-ECFA-98D90F54B050}"/>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5" name="Footer Placeholder 4">
            <a:extLst>
              <a:ext uri="{FF2B5EF4-FFF2-40B4-BE49-F238E27FC236}">
                <a16:creationId xmlns:a16="http://schemas.microsoft.com/office/drawing/2014/main" id="{28738177-F863-6905-B8ED-706236799D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C87221-4A31-5FA8-FDCD-5CD213653B7D}"/>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423761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09DB6-CE7E-FB9C-9F45-87B81B797B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FB31CE-F3A1-6DE8-0773-4E48BC0ECD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F72815-5676-12D6-070C-DFCFE2BA2866}"/>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5" name="Footer Placeholder 4">
            <a:extLst>
              <a:ext uri="{FF2B5EF4-FFF2-40B4-BE49-F238E27FC236}">
                <a16:creationId xmlns:a16="http://schemas.microsoft.com/office/drawing/2014/main" id="{84499DB9-384F-5F65-EA56-60AFCA0E9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DC1508-0A3F-F553-7A3B-5F7966D1F426}"/>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200350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C945F-9DC3-8415-8F5E-016D62B1CC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E8E2B8-D65C-FADB-F9A7-EE033121B2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2068E4-8757-DA08-23A4-C557F95704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77A6BE-2B02-36DB-4680-485F8FA04273}"/>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6" name="Footer Placeholder 5">
            <a:extLst>
              <a:ext uri="{FF2B5EF4-FFF2-40B4-BE49-F238E27FC236}">
                <a16:creationId xmlns:a16="http://schemas.microsoft.com/office/drawing/2014/main" id="{347080F3-C203-4F63-3167-D062341A57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D800AA-D661-E974-9540-FBB222859C63}"/>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1946420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0AF2-46CE-EF84-76C1-F1386619C3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7C1CC1-ED89-D40B-8F3D-D5EA75F4A4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A7B03A-6B32-0FA4-AFC6-8BA022CD3F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350C56-6351-9984-8643-025D0C4030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11B6AE-A9BD-158E-A83B-645233006F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F7BCE8-6D79-E96E-FBF2-1513E264DC72}"/>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8" name="Footer Placeholder 7">
            <a:extLst>
              <a:ext uri="{FF2B5EF4-FFF2-40B4-BE49-F238E27FC236}">
                <a16:creationId xmlns:a16="http://schemas.microsoft.com/office/drawing/2014/main" id="{7C8B6AD5-E7C9-F152-F682-BF3EE9A6C9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D85C6F-9ED4-12A0-3ECC-5466C3BD177D}"/>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526998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9D9A-5422-8123-D4D9-F05F5D8857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FD9352-D03F-593D-0D78-2058806D03E1}"/>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4" name="Footer Placeholder 3">
            <a:extLst>
              <a:ext uri="{FF2B5EF4-FFF2-40B4-BE49-F238E27FC236}">
                <a16:creationId xmlns:a16="http://schemas.microsoft.com/office/drawing/2014/main" id="{FA07159D-8026-4899-BE96-306DED0B2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D48FAF-CD44-3519-311E-52E3FA92B932}"/>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2960410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C4B393-1914-9EC3-0922-429DA93ABA7B}"/>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3" name="Footer Placeholder 2">
            <a:extLst>
              <a:ext uri="{FF2B5EF4-FFF2-40B4-BE49-F238E27FC236}">
                <a16:creationId xmlns:a16="http://schemas.microsoft.com/office/drawing/2014/main" id="{0E80CF40-30AE-DBE3-2D22-AA938BD2B5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8E1207-367F-85BC-E3BC-30598C838BD8}"/>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247206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38709-17D2-E7A9-733E-E1BB2185A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2A8CE9-EC43-92BB-E41C-A2EBD6D3E6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2EDD6D-4173-8D3E-01B6-B653FC96B3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379238-3E35-92D0-0ADC-58AAE41F68F6}"/>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6" name="Footer Placeholder 5">
            <a:extLst>
              <a:ext uri="{FF2B5EF4-FFF2-40B4-BE49-F238E27FC236}">
                <a16:creationId xmlns:a16="http://schemas.microsoft.com/office/drawing/2014/main" id="{819C9E9C-4ABD-1689-7B0E-23B5122F1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5BB751-CD1A-0D7F-FE60-92AADECE0591}"/>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50690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83A08-4F3A-0770-802D-732E5D0973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F56E6D-3D27-994C-3500-5F8EF2D3A2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F3900C-CFD7-E11F-88F8-DBCA7722F1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8F3943-61EB-BD7A-306E-B6DC0231422E}"/>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6" name="Footer Placeholder 5">
            <a:extLst>
              <a:ext uri="{FF2B5EF4-FFF2-40B4-BE49-F238E27FC236}">
                <a16:creationId xmlns:a16="http://schemas.microsoft.com/office/drawing/2014/main" id="{FE459A33-489D-7A65-B8D2-3D4A2790AD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31DD91-F618-1510-492D-A73CE9CA68FF}"/>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765720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F32DB-E12D-A064-9A5E-E2D6B6BED5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A7902B-36DA-8AED-CF18-C460CA690E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544F2-2234-095C-5507-2FC26EA1903C}"/>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5" name="Footer Placeholder 4">
            <a:extLst>
              <a:ext uri="{FF2B5EF4-FFF2-40B4-BE49-F238E27FC236}">
                <a16:creationId xmlns:a16="http://schemas.microsoft.com/office/drawing/2014/main" id="{89515B3F-6D45-93EC-369F-D0C5E93D56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13EF5-C7A4-B81C-5789-58DA6022DCB0}"/>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1408113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25E182-4416-8A54-D2A9-848E15AEC0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3784B8-811C-AFDD-358F-C6109ED74D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AE4877-21EB-D7B5-D983-BC22582A6ACF}"/>
              </a:ext>
            </a:extLst>
          </p:cNvPr>
          <p:cNvSpPr>
            <a:spLocks noGrp="1"/>
          </p:cNvSpPr>
          <p:nvPr>
            <p:ph type="dt" sz="half" idx="10"/>
          </p:nvPr>
        </p:nvSpPr>
        <p:spPr/>
        <p:txBody>
          <a:bodyPr/>
          <a:lstStyle/>
          <a:p>
            <a:fld id="{9959450D-C0A9-414C-934D-23FCB958D1B6}" type="datetimeFigureOut">
              <a:rPr lang="en-US" smtClean="0"/>
              <a:t>8/5/2025</a:t>
            </a:fld>
            <a:endParaRPr lang="en-US"/>
          </a:p>
        </p:txBody>
      </p:sp>
      <p:sp>
        <p:nvSpPr>
          <p:cNvPr id="5" name="Footer Placeholder 4">
            <a:extLst>
              <a:ext uri="{FF2B5EF4-FFF2-40B4-BE49-F238E27FC236}">
                <a16:creationId xmlns:a16="http://schemas.microsoft.com/office/drawing/2014/main" id="{1B88CCD7-77D1-2A34-4691-C76B4840B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11D7E2-8023-7B86-B000-D1EF12C10697}"/>
              </a:ext>
            </a:extLst>
          </p:cNvPr>
          <p:cNvSpPr>
            <a:spLocks noGrp="1"/>
          </p:cNvSpPr>
          <p:nvPr>
            <p:ph type="sldNum" sz="quarter" idx="12"/>
          </p:nvPr>
        </p:nvSpPr>
        <p:spPr/>
        <p:txBody>
          <a:bodyPr/>
          <a:lstStyle/>
          <a:p>
            <a:fld id="{D30B2B0D-1AA7-4541-BC76-17D642878D23}" type="slidenum">
              <a:rPr lang="en-US" smtClean="0"/>
              <a:t>‹#›</a:t>
            </a:fld>
            <a:endParaRPr lang="en-US"/>
          </a:p>
        </p:txBody>
      </p:sp>
    </p:spTree>
    <p:extLst>
      <p:ext uri="{BB962C8B-B14F-4D97-AF65-F5344CB8AC3E}">
        <p14:creationId xmlns:p14="http://schemas.microsoft.com/office/powerpoint/2010/main" val="2402910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AEA877-F5D6-AA18-3A9C-A3F4D9906A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500348-92E4-DCFB-567C-041112A27F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35A21F-1274-67AF-83B2-45C74BE877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59450D-C0A9-414C-934D-23FCB958D1B6}" type="datetimeFigureOut">
              <a:rPr lang="en-US" smtClean="0"/>
              <a:t>8/5/2025</a:t>
            </a:fld>
            <a:endParaRPr lang="en-US"/>
          </a:p>
        </p:txBody>
      </p:sp>
      <p:sp>
        <p:nvSpPr>
          <p:cNvPr id="5" name="Footer Placeholder 4">
            <a:extLst>
              <a:ext uri="{FF2B5EF4-FFF2-40B4-BE49-F238E27FC236}">
                <a16:creationId xmlns:a16="http://schemas.microsoft.com/office/drawing/2014/main" id="{445097BF-4924-D648-47B0-A0C4CAC2FC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9B0C8C-9855-AE1A-6677-284DF1468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0B2B0D-1AA7-4541-BC76-17D642878D23}" type="slidenum">
              <a:rPr lang="en-US" smtClean="0"/>
              <a:t>‹#›</a:t>
            </a:fld>
            <a:endParaRPr lang="en-US"/>
          </a:p>
        </p:txBody>
      </p:sp>
    </p:spTree>
    <p:extLst>
      <p:ext uri="{BB962C8B-B14F-4D97-AF65-F5344CB8AC3E}">
        <p14:creationId xmlns:p14="http://schemas.microsoft.com/office/powerpoint/2010/main" val="2963723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city skyline">
            <a:extLst>
              <a:ext uri="{FF2B5EF4-FFF2-40B4-BE49-F238E27FC236}">
                <a16:creationId xmlns:a16="http://schemas.microsoft.com/office/drawing/2014/main" id="{ADD46FF3-9BCE-0DB3-C563-738D1D87237F}"/>
              </a:ext>
            </a:extLst>
          </p:cNvPr>
          <p:cNvPicPr>
            <a:picLocks noChangeAspect="1"/>
          </p:cNvPicPr>
          <p:nvPr/>
        </p:nvPicPr>
        <p:blipFill>
          <a:blip r:embed="rId2">
            <a:alphaModFix amt="50000"/>
          </a:blip>
          <a:srcRect t="1573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F6816993-C477-C1C7-9F69-04DC532AC114}"/>
              </a:ext>
            </a:extLst>
          </p:cNvPr>
          <p:cNvSpPr>
            <a:spLocks noGrp="1"/>
          </p:cNvSpPr>
          <p:nvPr>
            <p:ph type="ctrTitle"/>
          </p:nvPr>
        </p:nvSpPr>
        <p:spPr>
          <a:xfrm>
            <a:off x="1524000" y="1122362"/>
            <a:ext cx="9144000" cy="2900518"/>
          </a:xfrm>
        </p:spPr>
        <p:txBody>
          <a:bodyPr>
            <a:normAutofit/>
          </a:bodyPr>
          <a:lstStyle/>
          <a:p>
            <a:r>
              <a:rPr lang="en-US" b="1">
                <a:solidFill>
                  <a:srgbClr val="FFFFFF"/>
                </a:solidFill>
                <a:latin typeface="Arial Rounded MT Bold" panose="020F0704030504030204" pitchFamily="34" charset="0"/>
              </a:rPr>
              <a:t>Building Confident Application Systems with .NET Aspire</a:t>
            </a:r>
            <a:endParaRPr lang="en-US">
              <a:solidFill>
                <a:srgbClr val="FFFFFF"/>
              </a:solidFill>
              <a:latin typeface="Arial Rounded MT Bold" panose="020F0704030504030204" pitchFamily="34" charset="0"/>
            </a:endParaRPr>
          </a:p>
        </p:txBody>
      </p:sp>
      <p:sp>
        <p:nvSpPr>
          <p:cNvPr id="3" name="Subtitle 2">
            <a:extLst>
              <a:ext uri="{FF2B5EF4-FFF2-40B4-BE49-F238E27FC236}">
                <a16:creationId xmlns:a16="http://schemas.microsoft.com/office/drawing/2014/main" id="{6302CBF4-68C4-1139-1CF1-0277DF5E815D}"/>
              </a:ext>
            </a:extLst>
          </p:cNvPr>
          <p:cNvSpPr>
            <a:spLocks noGrp="1"/>
          </p:cNvSpPr>
          <p:nvPr>
            <p:ph type="subTitle" idx="1"/>
          </p:nvPr>
        </p:nvSpPr>
        <p:spPr>
          <a:xfrm>
            <a:off x="1524000" y="4159404"/>
            <a:ext cx="9144000" cy="1098395"/>
          </a:xfrm>
        </p:spPr>
        <p:txBody>
          <a:bodyPr>
            <a:normAutofit/>
          </a:bodyPr>
          <a:lstStyle/>
          <a:p>
            <a:r>
              <a:rPr lang="en-US" b="1">
                <a:solidFill>
                  <a:srgbClr val="FFFFFF"/>
                </a:solidFill>
              </a:rPr>
              <a:t>From Dev to Deployment</a:t>
            </a:r>
            <a:endParaRPr lang="en-US">
              <a:solidFill>
                <a:srgbClr val="FFFFFF"/>
              </a:solidFill>
            </a:endParaRPr>
          </a:p>
        </p:txBody>
      </p:sp>
      <p:sp>
        <p:nvSpPr>
          <p:cNvPr id="4" name="TextBox 3">
            <a:extLst>
              <a:ext uri="{FF2B5EF4-FFF2-40B4-BE49-F238E27FC236}">
                <a16:creationId xmlns:a16="http://schemas.microsoft.com/office/drawing/2014/main" id="{E59EFBE9-719D-9EFF-C6E8-C15A750FF88B}"/>
              </a:ext>
            </a:extLst>
          </p:cNvPr>
          <p:cNvSpPr txBox="1"/>
          <p:nvPr/>
        </p:nvSpPr>
        <p:spPr>
          <a:xfrm>
            <a:off x="667871" y="5735638"/>
            <a:ext cx="10856258" cy="461665"/>
          </a:xfrm>
          <a:prstGeom prst="rect">
            <a:avLst/>
          </a:prstGeom>
          <a:noFill/>
        </p:spPr>
        <p:txBody>
          <a:bodyPr wrap="square" rtlCol="0">
            <a:spAutoFit/>
          </a:bodyPr>
          <a:lstStyle/>
          <a:p>
            <a:r>
              <a:rPr lang="en-US" sz="2400" dirty="0"/>
              <a:t>Jeffrey T. Fritz | @csharpfritz | twitch.tv/</a:t>
            </a:r>
            <a:r>
              <a:rPr lang="en-US" sz="2400" dirty="0" err="1"/>
              <a:t>csharpfritz</a:t>
            </a:r>
            <a:r>
              <a:rPr lang="en-US" sz="2400" dirty="0"/>
              <a:t> | youtube.com/</a:t>
            </a:r>
            <a:r>
              <a:rPr lang="en-US" sz="2400" dirty="0" err="1"/>
              <a:t>csharpfritz</a:t>
            </a:r>
            <a:endParaRPr lang="en-US" sz="2400" dirty="0"/>
          </a:p>
        </p:txBody>
      </p:sp>
    </p:spTree>
    <p:extLst>
      <p:ext uri="{BB962C8B-B14F-4D97-AF65-F5344CB8AC3E}">
        <p14:creationId xmlns:p14="http://schemas.microsoft.com/office/powerpoint/2010/main" val="318504156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par>
                          <p:cTn id="11" fill="hold">
                            <p:stCondLst>
                              <p:cond delay="220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C6BAE-68F1-9CDC-F292-83EC8997DC43}"/>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a:solidFill>
                  <a:schemeClr val="tx1"/>
                </a:solidFill>
                <a:latin typeface="+mj-lt"/>
                <a:ea typeface="+mj-ea"/>
                <a:cs typeface="+mj-cs"/>
              </a:rPr>
              <a:t>Modern .NET Apps: Complex Realities</a:t>
            </a:r>
            <a:endParaRPr lang="en-US" sz="3600" b="1" kern="1200" dirty="0">
              <a:solidFill>
                <a:schemeClr val="tx1"/>
              </a:solidFill>
              <a:latin typeface="+mj-lt"/>
              <a:ea typeface="+mj-ea"/>
              <a:cs typeface="+mj-cs"/>
            </a:endParaRPr>
          </a:p>
        </p:txBody>
      </p:sp>
      <p:pic>
        <p:nvPicPr>
          <p:cNvPr id="5" name="Content Placeholder 4" descr="Cloud computing concept isolated on white background">
            <a:extLst>
              <a:ext uri="{FF2B5EF4-FFF2-40B4-BE49-F238E27FC236}">
                <a16:creationId xmlns:a16="http://schemas.microsoft.com/office/drawing/2014/main" id="{F58801D9-6D92-4EC8-8847-81837D218CB9}"/>
              </a:ext>
            </a:extLst>
          </p:cNvPr>
          <p:cNvPicPr>
            <a:picLocks noGrp="1" noChangeAspect="1"/>
          </p:cNvPicPr>
          <p:nvPr>
            <p:ph sz="half" idx="1"/>
          </p:nvPr>
        </p:nvPicPr>
        <p:blipFill>
          <a:blip r:embed="rId3"/>
          <a:srcRect l="22115" r="24186"/>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EF73BD04-0323-3BA8-60F2-78ED1B2CBDD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Font typeface="Arial" panose="020B0604020202020204" pitchFamily="34" charset="0"/>
              <a:buNone/>
            </a:pPr>
            <a:r>
              <a:rPr lang="en-US" sz="1800" b="1" dirty="0"/>
              <a:t>Intricate App Architectures</a:t>
            </a:r>
          </a:p>
          <a:p>
            <a:pPr marL="0" lvl="1" indent="0">
              <a:buFont typeface="Arial" panose="020B0604020202020204" pitchFamily="34" charset="0"/>
              <a:buNone/>
            </a:pPr>
            <a:r>
              <a:rPr lang="en-US" sz="1800" dirty="0"/>
              <a:t>Modern .NET apps use microservices, APIs, and background workers, creating complex and interconnected structures.</a:t>
            </a:r>
          </a:p>
          <a:p>
            <a:pPr marL="0" indent="0">
              <a:spcBef>
                <a:spcPts val="2500"/>
              </a:spcBef>
              <a:buFont typeface="Arial" panose="020B0604020202020204" pitchFamily="34" charset="0"/>
              <a:buNone/>
            </a:pPr>
            <a:r>
              <a:rPr lang="en-US" sz="1800" b="1" dirty="0"/>
              <a:t>Cloud-Native Demands</a:t>
            </a:r>
          </a:p>
          <a:p>
            <a:pPr marL="0" lvl="1" indent="0">
              <a:buFont typeface="Arial" panose="020B0604020202020204" pitchFamily="34" charset="0"/>
              <a:buNone/>
            </a:pPr>
            <a:r>
              <a:rPr lang="en-US" sz="1800" dirty="0"/>
              <a:t>Cloud-native apps require resilience, observability, and scalability, adding more layers to application complexity.</a:t>
            </a:r>
          </a:p>
          <a:p>
            <a:pPr marL="0" indent="0">
              <a:spcBef>
                <a:spcPts val="2500"/>
              </a:spcBef>
              <a:buFont typeface="Arial" panose="020B0604020202020204" pitchFamily="34" charset="0"/>
              <a:buNone/>
            </a:pPr>
            <a:r>
              <a:rPr lang="en-US" sz="1800" b="1" dirty="0"/>
              <a:t>Developer Operational Challenges</a:t>
            </a:r>
          </a:p>
          <a:p>
            <a:pPr marL="0" lvl="1" indent="0">
              <a:buFont typeface="Arial" panose="020B0604020202020204" pitchFamily="34" charset="0"/>
              <a:buNone/>
            </a:pPr>
            <a:r>
              <a:rPr lang="en-US" sz="1800" dirty="0"/>
              <a:t>Developers now handle operational tasks alongside coding, driving the need for effective tools and clear strategies.</a:t>
            </a:r>
          </a:p>
        </p:txBody>
      </p:sp>
    </p:spTree>
    <p:extLst>
      <p:ext uri="{BB962C8B-B14F-4D97-AF65-F5344CB8AC3E}">
        <p14:creationId xmlns:p14="http://schemas.microsoft.com/office/powerpoint/2010/main" val="412387191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nternet Network of Connected Devices and Apps.">
            <a:extLst>
              <a:ext uri="{FF2B5EF4-FFF2-40B4-BE49-F238E27FC236}">
                <a16:creationId xmlns:a16="http://schemas.microsoft.com/office/drawing/2014/main" id="{EE8CB5DA-DF18-4826-BDBA-44561BBF84DD}"/>
              </a:ext>
            </a:extLst>
          </p:cNvPr>
          <p:cNvPicPr>
            <a:picLocks noGrp="1" noChangeAspect="1"/>
          </p:cNvPicPr>
          <p:nvPr>
            <p:ph sz="half" idx="1"/>
          </p:nvPr>
        </p:nvPicPr>
        <p:blipFill>
          <a:blip r:embed="rId3"/>
          <a:srcRect t="8470" b="7260"/>
          <a:stretch>
            <a:fillRect/>
          </a:stretch>
        </p:blipFill>
        <p:spPr>
          <a:xfrm>
            <a:off x="1" y="1"/>
            <a:ext cx="12192000" cy="6857999"/>
          </a:xfrm>
          <a:prstGeom prst="rect">
            <a:avLst/>
          </a:prstGeom>
        </p:spPr>
      </p:pic>
      <p:sp>
        <p:nvSpPr>
          <p:cNvPr id="17" name="Freeform: Shape 16">
            <a:extLst>
              <a:ext uri="{FF2B5EF4-FFF2-40B4-BE49-F238E27FC236}">
                <a16:creationId xmlns:a16="http://schemas.microsoft.com/office/drawing/2014/main" id="{C74F2646-08C7-4051-81DA-751C43A03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099" y="585274"/>
            <a:ext cx="7036051" cy="5492212"/>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chemeClr val="bg1"/>
          </a:solidFill>
          <a:ln>
            <a:noFill/>
          </a:ln>
          <a:effectLst>
            <a:outerShdw blurRad="50800" dist="254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DCD6552F-C98B-4FBA-842F-3EF2D5ACA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099" y="585274"/>
            <a:ext cx="7036051" cy="5492212"/>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2126643-A078-D9BE-2879-0471DA7C8819}"/>
              </a:ext>
            </a:extLst>
          </p:cNvPr>
          <p:cNvSpPr>
            <a:spLocks noGrp="1"/>
          </p:cNvSpPr>
          <p:nvPr>
            <p:ph type="title"/>
          </p:nvPr>
        </p:nvSpPr>
        <p:spPr>
          <a:xfrm>
            <a:off x="1215900" y="1071349"/>
            <a:ext cx="5886449" cy="1211475"/>
          </a:xfrm>
        </p:spPr>
        <p:txBody>
          <a:bodyPr vert="horz" lIns="91440" tIns="45720" rIns="91440" bIns="45720" rtlCol="0" anchor="ctr">
            <a:normAutofit/>
          </a:bodyPr>
          <a:lstStyle/>
          <a:p>
            <a:pPr algn="ctr"/>
            <a:r>
              <a:rPr lang="en-US" sz="3600" b="1"/>
              <a:t>What Is .NET Aspire?</a:t>
            </a:r>
          </a:p>
        </p:txBody>
      </p:sp>
      <p:sp>
        <p:nvSpPr>
          <p:cNvPr id="21"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5249" y="395108"/>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9227BA66-8C48-E256-79C7-64F10050F0F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83384" y="2419350"/>
            <a:ext cx="5751481" cy="3237647"/>
          </a:xfrm>
        </p:spPr>
        <p:txBody>
          <a:bodyPr>
            <a:normAutofit/>
          </a:bodyPr>
          <a:lstStyle/>
          <a:p>
            <a:pPr marL="0" indent="0">
              <a:spcBef>
                <a:spcPts val="2500"/>
              </a:spcBef>
              <a:buFont typeface="Arial" panose="020B0604020202020204" pitchFamily="34" charset="0"/>
              <a:buNone/>
            </a:pPr>
            <a:r>
              <a:rPr lang="en-US" sz="1400" b="1"/>
              <a:t>.NET Distributed Application Stack</a:t>
            </a:r>
          </a:p>
          <a:p>
            <a:pPr marL="0" lvl="1" indent="0">
              <a:buFont typeface="Arial" panose="020B0604020202020204" pitchFamily="34" charset="0"/>
              <a:buNone/>
            </a:pPr>
            <a:r>
              <a:rPr lang="en-US" sz="1400"/>
              <a:t>.NET Aspire is designed for building distributed applications, streamlining complex development with opinionated choices.</a:t>
            </a:r>
          </a:p>
          <a:p>
            <a:pPr marL="0" indent="0">
              <a:spcBef>
                <a:spcPts val="2500"/>
              </a:spcBef>
              <a:buFont typeface="Arial" panose="020B0604020202020204" pitchFamily="34" charset="0"/>
              <a:buNone/>
            </a:pPr>
            <a:r>
              <a:rPr lang="en-US" sz="1400" b="1"/>
              <a:t>Built-in Orchestration and Diagnostics</a:t>
            </a:r>
          </a:p>
          <a:p>
            <a:pPr marL="0" lvl="1" indent="0">
              <a:buFont typeface="Arial" panose="020B0604020202020204" pitchFamily="34" charset="0"/>
              <a:buNone/>
            </a:pPr>
            <a:r>
              <a:rPr lang="en-US" sz="1400"/>
              <a:t>.NET Aspire offers orchestration, diagnostics, and service discovery for easier management and troubleshooting of modern apps.</a:t>
            </a:r>
          </a:p>
          <a:p>
            <a:pPr marL="0" indent="0">
              <a:spcBef>
                <a:spcPts val="2500"/>
              </a:spcBef>
              <a:buFont typeface="Arial" panose="020B0604020202020204" pitchFamily="34" charset="0"/>
              <a:buNone/>
            </a:pPr>
            <a:r>
              <a:rPr lang="en-US" sz="1400" b="1"/>
              <a:t>Developer-First and Reliable</a:t>
            </a:r>
          </a:p>
          <a:p>
            <a:pPr marL="0" lvl="1" indent="0">
              <a:buFont typeface="Arial" panose="020B0604020202020204" pitchFamily="34" charset="0"/>
              <a:buNone/>
            </a:pPr>
            <a:r>
              <a:rPr lang="en-US" sz="1400"/>
              <a:t>.NET Aspire focuses on developer productivity and production reliability, making .NET projects easier and more robust.</a:t>
            </a:r>
          </a:p>
        </p:txBody>
      </p:sp>
      <p:sp>
        <p:nvSpPr>
          <p:cNvPr id="7" name="Oval 6">
            <a:extLst>
              <a:ext uri="{FF2B5EF4-FFF2-40B4-BE49-F238E27FC236}">
                <a16:creationId xmlns:a16="http://schemas.microsoft.com/office/drawing/2014/main" id="{8B82A958-EC4D-5662-B5A7-10AD1B74CFE8}"/>
              </a:ext>
            </a:extLst>
          </p:cNvPr>
          <p:cNvSpPr/>
          <p:nvPr/>
        </p:nvSpPr>
        <p:spPr>
          <a:xfrm>
            <a:off x="8913088" y="3469459"/>
            <a:ext cx="1347611" cy="1343278"/>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243747BB-7266-1299-53B9-BE862DF20D16}"/>
              </a:ext>
            </a:extLst>
          </p:cNvPr>
          <p:cNvPicPr>
            <a:picLocks noChangeAspect="1"/>
          </p:cNvPicPr>
          <p:nvPr/>
        </p:nvPicPr>
        <p:blipFill>
          <a:blip r:embed="rId4"/>
          <a:stretch>
            <a:fillRect/>
          </a:stretch>
        </p:blipFill>
        <p:spPr>
          <a:xfrm>
            <a:off x="9110687" y="3681876"/>
            <a:ext cx="962068" cy="873940"/>
          </a:xfrm>
          <a:prstGeom prst="rect">
            <a:avLst/>
          </a:prstGeom>
        </p:spPr>
      </p:pic>
    </p:spTree>
    <p:extLst>
      <p:ext uri="{BB962C8B-B14F-4D97-AF65-F5344CB8AC3E}">
        <p14:creationId xmlns:p14="http://schemas.microsoft.com/office/powerpoint/2010/main" val="27048303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7723FA5-0F9E-5CC6-BE60-567BB941AB19}"/>
              </a:ext>
              <a:ext uri="{C183D7F6-B498-43B3-948B-1728B52AA6E4}">
                <adec:decorative xmlns:adec="http://schemas.microsoft.com/office/drawing/2017/decorative" val="1"/>
              </a:ext>
            </a:extLst>
          </p:cNvPr>
          <p:cNvSpPr txBox="1"/>
          <p:nvPr/>
        </p:nvSpPr>
        <p:spPr>
          <a:xfrm>
            <a:off x="2882518" y="731801"/>
            <a:ext cx="6182770" cy="2282512"/>
          </a:xfrm>
          <a:prstGeom prst="roundRect">
            <a:avLst>
              <a:gd name="adj" fmla="val 50000"/>
            </a:avLst>
          </a:prstGeom>
          <a:solidFill>
            <a:schemeClr val="bg1"/>
          </a:solidFill>
          <a:ln w="38100">
            <a:noFill/>
          </a:ln>
          <a:effectLst>
            <a:outerShdw blurRad="101600" dist="76200" dir="2700000" algn="tl" rotWithShape="0">
              <a:srgbClr val="562920">
                <a:alpha val="14902"/>
              </a:srgbClr>
            </a:outerShdw>
          </a:effectLst>
        </p:spPr>
        <p:txBody>
          <a:bodyPr wrap="square" lIns="0" tIns="45714" rIns="0" bIns="45714" anchor="b" anchorCtr="0">
            <a:spAutoFit/>
          </a:bodyPr>
          <a:lstStyle/>
          <a:p>
            <a:pPr algn="ctr" defTabSz="457109">
              <a:defRPr/>
            </a:pPr>
            <a:endParaRPr lang="en-US" sz="9948" b="1" kern="0" spc="-75">
              <a:latin typeface="Segoe UI Semibold" panose="020B0502040204020203" pitchFamily="34" charset="0"/>
              <a:cs typeface="Segoe UI Semibold" panose="020B0502040204020203" pitchFamily="34" charset="0"/>
            </a:endParaRPr>
          </a:p>
        </p:txBody>
      </p:sp>
      <p:pic>
        <p:nvPicPr>
          <p:cNvPr id="5" name="Picture 4" descr=".NET Aspire logo">
            <a:extLst>
              <a:ext uri="{FF2B5EF4-FFF2-40B4-BE49-F238E27FC236}">
                <a16:creationId xmlns:a16="http://schemas.microsoft.com/office/drawing/2014/main" id="{EDE4B226-BF59-DD80-B46D-B38CFE82BB1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74758" y="960264"/>
            <a:ext cx="5425204" cy="1456880"/>
          </a:xfrm>
          <a:prstGeom prst="rect">
            <a:avLst/>
          </a:prstGeom>
        </p:spPr>
      </p:pic>
      <p:sp>
        <p:nvSpPr>
          <p:cNvPr id="57" name="TextBox 56">
            <a:extLst>
              <a:ext uri="{FF2B5EF4-FFF2-40B4-BE49-F238E27FC236}">
                <a16:creationId xmlns:a16="http://schemas.microsoft.com/office/drawing/2014/main" id="{6F0696DA-AD91-A9CC-C02C-2715E0DD8C45}"/>
              </a:ext>
            </a:extLst>
          </p:cNvPr>
          <p:cNvSpPr txBox="1"/>
          <p:nvPr/>
        </p:nvSpPr>
        <p:spPr>
          <a:xfrm>
            <a:off x="2237682" y="3428939"/>
            <a:ext cx="3736222" cy="605892"/>
          </a:xfrm>
          <a:prstGeom prst="roundRect">
            <a:avLst>
              <a:gd name="adj" fmla="val 50000"/>
            </a:avLst>
          </a:prstGeom>
          <a:solidFill>
            <a:schemeClr val="bg1"/>
          </a:solidFill>
          <a:ln w="38100">
            <a:noFill/>
          </a:ln>
          <a:effectLst>
            <a:outerShdw blurRad="101600" dist="76200" dir="2700000" algn="tl" rotWithShape="0">
              <a:srgbClr val="562920">
                <a:alpha val="14902"/>
              </a:srgbClr>
            </a:outerShdw>
          </a:effectLst>
        </p:spPr>
        <p:txBody>
          <a:bodyPr wrap="square" lIns="0" tIns="45714" rIns="0" bIns="45714" anchor="b" anchorCtr="0">
            <a:spAutoFit/>
          </a:bodyPr>
          <a:lstStyle/>
          <a:p>
            <a:pPr algn="ctr" defTabSz="457109">
              <a:defRPr/>
            </a:pPr>
            <a:r>
              <a:rPr lang="en-US" sz="2200" b="1" kern="0" spc="-75">
                <a:latin typeface="Segoe UI Semibold" panose="020B0502040204020203" pitchFamily="34" charset="0"/>
                <a:cs typeface="Segoe UI Semibold" panose="020B0502040204020203" pitchFamily="34" charset="0"/>
              </a:rPr>
              <a:t>Smart Defaults</a:t>
            </a:r>
          </a:p>
        </p:txBody>
      </p:sp>
      <p:sp>
        <p:nvSpPr>
          <p:cNvPr id="58" name="TextBox 57">
            <a:extLst>
              <a:ext uri="{FF2B5EF4-FFF2-40B4-BE49-F238E27FC236}">
                <a16:creationId xmlns:a16="http://schemas.microsoft.com/office/drawing/2014/main" id="{BDDFFCEE-376A-7227-C67A-E7F8E9C0343A}"/>
              </a:ext>
            </a:extLst>
          </p:cNvPr>
          <p:cNvSpPr txBox="1"/>
          <p:nvPr/>
        </p:nvSpPr>
        <p:spPr>
          <a:xfrm>
            <a:off x="6287359" y="3428939"/>
            <a:ext cx="3736223" cy="605892"/>
          </a:xfrm>
          <a:prstGeom prst="roundRect">
            <a:avLst>
              <a:gd name="adj" fmla="val 50000"/>
            </a:avLst>
          </a:prstGeom>
          <a:solidFill>
            <a:schemeClr val="bg1"/>
          </a:solidFill>
          <a:ln w="38100">
            <a:noFill/>
          </a:ln>
          <a:effectLst>
            <a:outerShdw blurRad="101600" dist="76200" dir="2700000" algn="tl" rotWithShape="0">
              <a:srgbClr val="562920">
                <a:alpha val="14902"/>
              </a:srgbClr>
            </a:outerShdw>
          </a:effectLst>
        </p:spPr>
        <p:txBody>
          <a:bodyPr wrap="square" lIns="0" tIns="45714" rIns="0" bIns="45714" anchor="b" anchorCtr="0">
            <a:spAutoFit/>
          </a:bodyPr>
          <a:lstStyle/>
          <a:p>
            <a:pPr algn="ctr" defTabSz="457109">
              <a:defRPr/>
            </a:pPr>
            <a:r>
              <a:rPr lang="en-US" sz="2200" b="1" kern="0" spc="-75">
                <a:latin typeface="Segoe UI Semibold" panose="020B0502040204020203" pitchFamily="34" charset="0"/>
                <a:cs typeface="Segoe UI Semibold" panose="020B0502040204020203" pitchFamily="34" charset="0"/>
              </a:rPr>
              <a:t>Developer Dashboard</a:t>
            </a:r>
          </a:p>
        </p:txBody>
      </p:sp>
      <p:sp>
        <p:nvSpPr>
          <p:cNvPr id="59" name="TextBox 58">
            <a:extLst>
              <a:ext uri="{FF2B5EF4-FFF2-40B4-BE49-F238E27FC236}">
                <a16:creationId xmlns:a16="http://schemas.microsoft.com/office/drawing/2014/main" id="{8EAECDA8-2113-EF21-90C4-37414A2EB1C2}"/>
              </a:ext>
            </a:extLst>
          </p:cNvPr>
          <p:cNvSpPr txBox="1"/>
          <p:nvPr/>
        </p:nvSpPr>
        <p:spPr>
          <a:xfrm>
            <a:off x="2237682" y="4276415"/>
            <a:ext cx="3736222" cy="605892"/>
          </a:xfrm>
          <a:prstGeom prst="roundRect">
            <a:avLst>
              <a:gd name="adj" fmla="val 50000"/>
            </a:avLst>
          </a:prstGeom>
          <a:solidFill>
            <a:schemeClr val="bg1"/>
          </a:solidFill>
          <a:ln w="38100">
            <a:noFill/>
          </a:ln>
          <a:effectLst>
            <a:outerShdw blurRad="101600" dist="76200" dir="2700000" algn="tl" rotWithShape="0">
              <a:srgbClr val="562920">
                <a:alpha val="14902"/>
              </a:srgbClr>
            </a:outerShdw>
          </a:effectLst>
        </p:spPr>
        <p:txBody>
          <a:bodyPr wrap="square" lIns="0" tIns="45714" rIns="0" bIns="45714" anchor="b" anchorCtr="0">
            <a:spAutoFit/>
          </a:bodyPr>
          <a:lstStyle/>
          <a:p>
            <a:pPr algn="ctr" defTabSz="457109">
              <a:defRPr/>
            </a:pPr>
            <a:r>
              <a:rPr lang="en-US" sz="2200" b="1" kern="0" spc="-75">
                <a:latin typeface="Segoe UI Semibold" panose="020B0502040204020203" pitchFamily="34" charset="0"/>
                <a:cs typeface="Segoe UI Semibold" panose="020B0502040204020203" pitchFamily="34" charset="0"/>
              </a:rPr>
              <a:t>Orchestration</a:t>
            </a:r>
          </a:p>
        </p:txBody>
      </p:sp>
      <p:sp>
        <p:nvSpPr>
          <p:cNvPr id="60" name="TextBox 59">
            <a:extLst>
              <a:ext uri="{FF2B5EF4-FFF2-40B4-BE49-F238E27FC236}">
                <a16:creationId xmlns:a16="http://schemas.microsoft.com/office/drawing/2014/main" id="{3AE55DF2-574F-2C71-6B87-4E7A8FA65F6E}"/>
              </a:ext>
            </a:extLst>
          </p:cNvPr>
          <p:cNvSpPr txBox="1"/>
          <p:nvPr/>
        </p:nvSpPr>
        <p:spPr>
          <a:xfrm>
            <a:off x="6287360" y="4276415"/>
            <a:ext cx="3736222" cy="605892"/>
          </a:xfrm>
          <a:prstGeom prst="roundRect">
            <a:avLst>
              <a:gd name="adj" fmla="val 50000"/>
            </a:avLst>
          </a:prstGeom>
          <a:solidFill>
            <a:schemeClr val="bg1"/>
          </a:solidFill>
          <a:ln w="38100">
            <a:noFill/>
          </a:ln>
          <a:effectLst>
            <a:outerShdw blurRad="101600" dist="76200" dir="2700000" algn="tl" rotWithShape="0">
              <a:srgbClr val="562920">
                <a:alpha val="14902"/>
              </a:srgbClr>
            </a:outerShdw>
          </a:effectLst>
        </p:spPr>
        <p:txBody>
          <a:bodyPr wrap="square" lIns="0" tIns="45714" rIns="0" bIns="45714" anchor="b" anchorCtr="0">
            <a:spAutoFit/>
          </a:bodyPr>
          <a:lstStyle/>
          <a:p>
            <a:pPr algn="ctr" defTabSz="457109">
              <a:defRPr/>
            </a:pPr>
            <a:r>
              <a:rPr lang="en-US" sz="2200" b="1" kern="0" spc="-75">
                <a:latin typeface="Segoe UI Semibold" panose="020B0502040204020203" pitchFamily="34" charset="0"/>
                <a:cs typeface="Segoe UI Semibold" panose="020B0502040204020203" pitchFamily="34" charset="0"/>
              </a:rPr>
              <a:t>Service Discovery</a:t>
            </a:r>
          </a:p>
        </p:txBody>
      </p:sp>
      <p:sp>
        <p:nvSpPr>
          <p:cNvPr id="4" name="TextBox 3">
            <a:extLst>
              <a:ext uri="{FF2B5EF4-FFF2-40B4-BE49-F238E27FC236}">
                <a16:creationId xmlns:a16="http://schemas.microsoft.com/office/drawing/2014/main" id="{2A2849DE-C5CF-4C8F-35B8-14ACC7AD892D}"/>
              </a:ext>
            </a:extLst>
          </p:cNvPr>
          <p:cNvSpPr txBox="1"/>
          <p:nvPr/>
        </p:nvSpPr>
        <p:spPr>
          <a:xfrm>
            <a:off x="2121418" y="2233266"/>
            <a:ext cx="7949165" cy="954088"/>
          </a:xfrm>
          <a:prstGeom prst="roundRect">
            <a:avLst>
              <a:gd name="adj" fmla="val 50000"/>
            </a:avLst>
          </a:prstGeom>
          <a:gradFill flip="none" rotWithShape="1">
            <a:gsLst>
              <a:gs pos="85000">
                <a:srgbClr val="3803DB"/>
              </a:gs>
              <a:gs pos="0">
                <a:srgbClr val="C03BC4"/>
              </a:gs>
            </a:gsLst>
            <a:path path="circle">
              <a:fillToRect l="100000" t="100000"/>
            </a:path>
            <a:tileRect r="-100000" b="-100000"/>
          </a:gradFill>
          <a:ln w="9525" cap="flat" cmpd="sng" algn="ctr">
            <a:noFill/>
            <a:prstDash val="solid"/>
            <a:headEnd type="none" w="med" len="med"/>
            <a:tailEnd type="none" w="med" len="med"/>
          </a:ln>
          <a:effectLst>
            <a:outerShdw blurRad="63500" dist="127000" dir="2700000" algn="tl" rotWithShape="0">
              <a:srgbClr val="454142">
                <a:alpha val="2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defTabSz="914184" fontAlgn="base">
              <a:spcBef>
                <a:spcPct val="0"/>
              </a:spcBef>
              <a:spcAft>
                <a:spcPct val="0"/>
              </a:spcAft>
              <a:defRPr/>
            </a:pPr>
            <a:r>
              <a:rPr lang="en-US" sz="2000" b="1" kern="0">
                <a:ln w="3175">
                  <a:noFill/>
                </a:ln>
                <a:solidFill>
                  <a:srgbClr val="FFFFFF"/>
                </a:solidFill>
                <a:latin typeface="Open Sans" panose="020B0606030504020204" pitchFamily="34" charset="0"/>
                <a:ea typeface="Open Sans" panose="020B0606030504020204" pitchFamily="34" charset="0"/>
                <a:cs typeface="Open Sans" panose="020B0606030504020204" pitchFamily="34" charset="0"/>
              </a:rPr>
              <a:t>A cloud ready stack for building observable,</a:t>
            </a:r>
            <a:br>
              <a:rPr lang="en-US" sz="2000" b="1" kern="0">
                <a:ln w="3175">
                  <a:noFill/>
                </a:ln>
                <a:solidFill>
                  <a:srgbClr val="FFFFFF"/>
                </a:solidFill>
                <a:latin typeface="Open Sans" panose="020B0606030504020204" pitchFamily="34" charset="0"/>
                <a:ea typeface="Open Sans" panose="020B0606030504020204" pitchFamily="34" charset="0"/>
                <a:cs typeface="Open Sans" panose="020B0606030504020204" pitchFamily="34" charset="0"/>
              </a:rPr>
            </a:br>
            <a:r>
              <a:rPr lang="en-US" sz="2000" b="1" kern="0">
                <a:ln w="3175">
                  <a:noFill/>
                </a:ln>
                <a:solidFill>
                  <a:srgbClr val="FFFFFF"/>
                </a:solidFill>
                <a:latin typeface="Open Sans" panose="020B0606030504020204" pitchFamily="34" charset="0"/>
                <a:ea typeface="Open Sans" panose="020B0606030504020204" pitchFamily="34" charset="0"/>
                <a:cs typeface="Open Sans" panose="020B0606030504020204" pitchFamily="34" charset="0"/>
              </a:rPr>
              <a:t> production ready, distributed applications</a:t>
            </a:r>
          </a:p>
        </p:txBody>
      </p:sp>
      <p:sp>
        <p:nvSpPr>
          <p:cNvPr id="61" name="TextBox 60">
            <a:extLst>
              <a:ext uri="{FF2B5EF4-FFF2-40B4-BE49-F238E27FC236}">
                <a16:creationId xmlns:a16="http://schemas.microsoft.com/office/drawing/2014/main" id="{6B1DB59E-D497-2683-30BD-1600A87AC873}"/>
              </a:ext>
            </a:extLst>
          </p:cNvPr>
          <p:cNvSpPr txBox="1"/>
          <p:nvPr/>
        </p:nvSpPr>
        <p:spPr>
          <a:xfrm>
            <a:off x="6287360" y="5123891"/>
            <a:ext cx="3736222" cy="605892"/>
          </a:xfrm>
          <a:prstGeom prst="roundRect">
            <a:avLst>
              <a:gd name="adj" fmla="val 50000"/>
            </a:avLst>
          </a:prstGeom>
          <a:solidFill>
            <a:schemeClr val="bg1"/>
          </a:solidFill>
          <a:ln w="38100">
            <a:noFill/>
          </a:ln>
          <a:effectLst>
            <a:outerShdw blurRad="101600" dist="76200" dir="2700000" algn="tl" rotWithShape="0">
              <a:srgbClr val="562920">
                <a:alpha val="14902"/>
              </a:srgbClr>
            </a:outerShdw>
          </a:effectLst>
        </p:spPr>
        <p:txBody>
          <a:bodyPr wrap="square" lIns="0" tIns="45714" rIns="0" bIns="45714" anchor="b" anchorCtr="0">
            <a:spAutoFit/>
          </a:bodyPr>
          <a:lstStyle/>
          <a:p>
            <a:pPr algn="ctr" defTabSz="457109">
              <a:defRPr/>
            </a:pPr>
            <a:r>
              <a:rPr lang="en-US" sz="2200" b="1" kern="0" spc="-75">
                <a:latin typeface="Segoe UI Semibold" panose="020B0502040204020203" pitchFamily="34" charset="0"/>
                <a:cs typeface="Segoe UI Semibold" panose="020B0502040204020203" pitchFamily="34" charset="0"/>
              </a:rPr>
              <a:t>Deployment</a:t>
            </a:r>
          </a:p>
        </p:txBody>
      </p:sp>
      <p:sp>
        <p:nvSpPr>
          <p:cNvPr id="2" name="TextBox 1">
            <a:extLst>
              <a:ext uri="{FF2B5EF4-FFF2-40B4-BE49-F238E27FC236}">
                <a16:creationId xmlns:a16="http://schemas.microsoft.com/office/drawing/2014/main" id="{8D8F07D5-626B-DDA9-CD00-771AC86161F3}"/>
              </a:ext>
            </a:extLst>
          </p:cNvPr>
          <p:cNvSpPr txBox="1"/>
          <p:nvPr/>
        </p:nvSpPr>
        <p:spPr>
          <a:xfrm>
            <a:off x="2237682" y="5123891"/>
            <a:ext cx="3736222" cy="605892"/>
          </a:xfrm>
          <a:prstGeom prst="roundRect">
            <a:avLst>
              <a:gd name="adj" fmla="val 50000"/>
            </a:avLst>
          </a:prstGeom>
          <a:solidFill>
            <a:schemeClr val="bg1"/>
          </a:solidFill>
          <a:ln w="38100">
            <a:noFill/>
          </a:ln>
          <a:effectLst>
            <a:outerShdw blurRad="101600" dist="76200" dir="2700000" algn="tl" rotWithShape="0">
              <a:srgbClr val="562920">
                <a:alpha val="14902"/>
              </a:srgbClr>
            </a:outerShdw>
          </a:effectLst>
        </p:spPr>
        <p:txBody>
          <a:bodyPr wrap="square" lIns="0" tIns="45714" rIns="0" bIns="45714" anchor="b" anchorCtr="0">
            <a:spAutoFit/>
          </a:bodyPr>
          <a:lstStyle/>
          <a:p>
            <a:pPr algn="ctr" defTabSz="457109">
              <a:defRPr/>
            </a:pPr>
            <a:r>
              <a:rPr lang="en-US" sz="2200" b="1" kern="0" spc="-75" dirty="0">
                <a:latin typeface="Segoe UI Semibold" panose="020B0502040204020203" pitchFamily="34" charset="0"/>
                <a:cs typeface="Segoe UI Semibold" panose="020B0502040204020203" pitchFamily="34" charset="0"/>
              </a:rPr>
              <a:t>Integrations</a:t>
            </a:r>
          </a:p>
        </p:txBody>
      </p:sp>
      <p:sp>
        <p:nvSpPr>
          <p:cNvPr id="3" name="Title 2">
            <a:extLst>
              <a:ext uri="{FF2B5EF4-FFF2-40B4-BE49-F238E27FC236}">
                <a16:creationId xmlns:a16="http://schemas.microsoft.com/office/drawing/2014/main" id="{5FF271A9-7C93-DF3F-4614-C2662CF1B760}"/>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t>.NET Aspire Includes…</a:t>
            </a:r>
          </a:p>
        </p:txBody>
      </p:sp>
    </p:spTree>
    <p:extLst>
      <p:ext uri="{BB962C8B-B14F-4D97-AF65-F5344CB8AC3E}">
        <p14:creationId xmlns:p14="http://schemas.microsoft.com/office/powerpoint/2010/main" val="53846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path" presetSubtype="0" decel="100000" fill="hold" nodeType="withEffect">
                                  <p:stCondLst>
                                    <p:cond delay="0"/>
                                  </p:stCondLst>
                                  <p:childTnLst>
                                    <p:animMotion origin="layout" path="M 5E-6 0.04606 L 5E-6 3.7037E-6 " pathEditMode="relative" rAng="0" ptsTypes="AA">
                                      <p:cBhvr>
                                        <p:cTn id="9" dur="500" fill="hold"/>
                                        <p:tgtEl>
                                          <p:spTgt spid="5"/>
                                        </p:tgtEl>
                                        <p:attrNameLst>
                                          <p:attrName>ppt_x</p:attrName>
                                          <p:attrName>ppt_y</p:attrName>
                                        </p:attrNameLst>
                                      </p:cBhvr>
                                      <p:rCtr x="0" y="-2315"/>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42" presetClass="path" presetSubtype="0" decel="100000" fill="hold" grpId="1" nodeType="withEffect">
                                  <p:stCondLst>
                                    <p:cond delay="0"/>
                                  </p:stCondLst>
                                  <p:childTnLst>
                                    <p:animMotion origin="layout" path="M 0 0.04606 L 0 0 " pathEditMode="relative" rAng="0" ptsTypes="AA">
                                      <p:cBhvr>
                                        <p:cTn id="15" dur="500" fill="hold"/>
                                        <p:tgtEl>
                                          <p:spTgt spid="4"/>
                                        </p:tgtEl>
                                        <p:attrNameLst>
                                          <p:attrName>ppt_x</p:attrName>
                                          <p:attrName>ppt_y</p:attrName>
                                        </p:attrNameLst>
                                      </p:cBhvr>
                                      <p:rCtr x="0" y="-2315"/>
                                    </p:animMotion>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fade">
                                      <p:cBhvr>
                                        <p:cTn id="23" dur="500"/>
                                        <p:tgtEl>
                                          <p:spTgt spid="57"/>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500"/>
                                        <p:tgtEl>
                                          <p:spTgt spid="58"/>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500"/>
                                        <p:tgtEl>
                                          <p:spTgt spid="5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par>
                          <p:cTn id="36" fill="hold">
                            <p:stCondLst>
                              <p:cond delay="3500"/>
                            </p:stCondLst>
                            <p:childTnLst>
                              <p:par>
                                <p:cTn id="37" presetID="10" presetClass="entr" presetSubtype="0" fill="hold" grpId="0"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500"/>
                                        <p:tgtEl>
                                          <p:spTgt spid="2"/>
                                        </p:tgtEl>
                                      </p:cBhvr>
                                    </p:animEffect>
                                  </p:childTnLst>
                                </p:cTn>
                              </p:par>
                            </p:childTnLst>
                          </p:cTn>
                        </p:par>
                        <p:par>
                          <p:cTn id="40" fill="hold">
                            <p:stCondLst>
                              <p:cond delay="4000"/>
                            </p:stCondLst>
                            <p:childTnLst>
                              <p:par>
                                <p:cTn id="41" presetID="10" presetClass="entr" presetSubtype="0" fill="hold" grpId="0" nodeType="after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fade">
                                      <p:cBhvr>
                                        <p:cTn id="4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7" grpId="0" animBg="1"/>
      <p:bldP spid="58" grpId="0" animBg="1"/>
      <p:bldP spid="59" grpId="0" animBg="1"/>
      <p:bldP spid="60" grpId="0" animBg="1"/>
      <p:bldP spid="4" grpId="0" animBg="1"/>
      <p:bldP spid="4" grpId="1" animBg="1"/>
      <p:bldP spid="61" grpId="0" animBg="1"/>
      <p:bldP spid="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202</TotalTime>
  <Words>454</Words>
  <Application>Microsoft Office PowerPoint</Application>
  <PresentationFormat>Widescreen</PresentationFormat>
  <Paragraphs>31</Paragraphs>
  <Slides>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Aptos</vt:lpstr>
      <vt:lpstr>Aptos Display</vt:lpstr>
      <vt:lpstr>Arial</vt:lpstr>
      <vt:lpstr>Arial Rounded MT Bold</vt:lpstr>
      <vt:lpstr>Calibri</vt:lpstr>
      <vt:lpstr>Open Sans</vt:lpstr>
      <vt:lpstr>Segoe UI Semibold</vt:lpstr>
      <vt:lpstr>Office Theme</vt:lpstr>
      <vt:lpstr>Building Confident Application Systems with .NET Aspire</vt:lpstr>
      <vt:lpstr>Modern .NET Apps: Complex Realities</vt:lpstr>
      <vt:lpstr>What Is .NET Aspire?</vt:lpstr>
      <vt:lpstr>.NET Aspire Includes…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Jeff Fritz</dc:creator>
  <cp:lastModifiedBy>Jeff Fritz</cp:lastModifiedBy>
  <cp:revision>2</cp:revision>
  <dcterms:created xsi:type="dcterms:W3CDTF">2025-08-05T04:25:10Z</dcterms:created>
  <dcterms:modified xsi:type="dcterms:W3CDTF">2025-08-05T14:36:11Z</dcterms:modified>
</cp:coreProperties>
</file>